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db366ff-27e0-f5fb-0f8f-e9dae3b247ef}">
          <p14:sldIdLst>
            <p14:sldId id="256"/>
          </p14:sldIdLst>
        </p14:section>
        <p14:section name="Recap" id="{6278d4e5-4151-af60-8b9c-0caf3f958b46}">
          <p14:sldIdLst>
            <p14:sldId id="257"/>
            <p14:sldId id="258"/>
          </p14:sldIdLst>
        </p14:section>
        <p14:section name="Datasets" id="{a75c1fa5-8bf9-0c56-a29b-5c6ac2766cd9}">
          <p14:sldIdLst>
            <p14:sldId id="259"/>
            <p14:sldId id="260"/>
          </p14:sldIdLst>
        </p14:section>
        <p14:section name="Plan" id="{8f6e97f9-a6ef-c05a-81fc-7734b0b7fb98}">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where we are, and then the plan for the next phase. The main change: besides our ZU-PWD dataset, we want to validate BodySync on public Empatica datasets that have real stress labels and are well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of the original idea from our first presentation. Instead of looking at heart rate or sweat alone, we ask whether the signals move together the way they normally do for that person. When they stop agreeing, that's a desync. The paper by Sun et al. looked at each signal on its own, in one lab session; we want this from a wristband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ZU-PWD is great for long-term everyday data, but the free copy has no stress ratings, the readings are one-minute summaries, and the dataset paper has no citations yet. So we can build a score on it, but we can't prove the score means anything. That's why we looked for labelled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the public datasets we found that use an Empatica watch and record when people were stressed, sorted by citations. WESAD is the standard benchmark in wearable stress research with over 1,300 citations, and the nurse dataset is a well-known real-world one in Scientific Data. Together they cover about 200 people, in the lab and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Same sensors: the E4 is the older version of the watch in our dataset and measures the same three signals. A mix of lab and real life, so we see where the score works and where it gets harder. And they are well cited, so results on them are comparable with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original sync idea as score A, and add a simpler comparison, score B: how far your signals are from your own normal, with a separate normal for sleeping, resting and being active, so exercise isn't mistaken for stress. That was one of PWI's weaknesses. We compute both on the same data and see which one actually tracks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Convert every dataset to the same format. Compute both scores. Check, within each person, whether stressed moments score lower than calm ones. Then train a model on some datasets and test it on datasets it hasn't seen, because models often work on one dataset and fail on the next. Two real-world datasets, nurses and ADARP, stay untouched until the very end as a final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fooling ourselves: two datasets are held out until the end; both scores are compared against plain values and a PWI-style average; the exercise dataset checks the exercise confusion; and we report all results, not just the good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9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468880"/>
            <a:ext cx="8046720" cy="82296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
        <p:nvSpPr>
          <p:cNvPr id="4" name="Text 0"/>
          <p:cNvSpPr/>
          <p:nvPr>
            <p:ph idx="102" type="body" hasCustomPrompt="1"/>
          </p:nvPr>
        </p:nvSpPr>
        <p:spPr>
          <a:xfrm>
            <a:off x="548640" y="4206240"/>
            <a:ext cx="8046720" cy="365760"/>
          </a:xfrm>
          <a:prstGeom prst="rect">
            <a:avLst/>
          </a:prstGeom>
          <a:noFill/>
          <a:ln/>
        </p:spPr>
        <p:txBody>
          <a:bodyPr wrap="square" rtlCol="0"/>
          <a:lstStyle>
            <a:lvl1pPr algn="l" indent="0" marL="0">
              <a:buNone/>
              <a:defRPr lang="en-US" sz="1300" dirty="0">
                <a:solidFill>
                  <a:schemeClr val="bg2"/>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9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bg2"/>
                </a:solidFill>
              </a:rPr>
              <a:t>BodySync  ·  Validation plan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algn="l" indent="0" marL="0">
              <a:buNone/>
            </a:pPr>
            <a:r>
              <a:rPr lang="en-US" sz="5400" b="1" dirty="0">
                <a:solidFill>
                  <a:schemeClr val="bg1"/>
                </a:solidFill>
              </a:rPr>
              <a:t>BodySync</a:t>
            </a:r>
            <a:endParaRPr lang="en-US" sz="5400" dirty="0"/>
          </a:p>
        </p:txBody>
      </p:sp>
      <p:sp>
        <p:nvSpPr>
          <p:cNvPr id="3" name="Text 0"/>
          <p:cNvSpPr/>
          <p:nvPr>
            <p:ph idx="101" type="body" hasCustomPrompt="1"/>
          </p:nvPr>
        </p:nvSpPr>
        <p:spPr>
          <a:xfrm>
            <a:off x="548640" y="2468880"/>
            <a:ext cx="8046720" cy="822960"/>
          </a:xfrm>
          <a:prstGeom prst="rect">
            <a:avLst/>
          </a:prstGeom>
          <a:noFill/>
          <a:ln/>
        </p:spPr>
        <p:txBody>
          <a:bodyPr wrap="square" lIns="0" tIns="0" rIns="0" bIns="0" rtlCol="0" anchor="t"/>
          <a:lstStyle/>
          <a:p>
            <a:pPr algn="l" indent="0" marL="0">
              <a:buNone/>
            </a:pPr>
            <a:r>
              <a:rPr lang="en-US" sz="2200" dirty="0">
                <a:solidFill>
                  <a:schemeClr val="accent1"/>
                </a:solidFill>
              </a:rPr>
              <a:t>Plan: testing the score on highly cited Empatica stress datasets</a:t>
            </a:r>
            <a:endParaRPr lang="en-US" sz="2200" dirty="0"/>
          </a:p>
        </p:txBody>
      </p:sp>
      <p:sp>
        <p:nvSpPr>
          <p:cNvPr id="4" name="Text 0"/>
          <p:cNvSpPr/>
          <p:nvPr>
            <p:ph idx="102" type="body" hasCustomPrompt="1"/>
          </p:nvPr>
        </p:nvSpPr>
        <p:spPr>
          <a:xfrm>
            <a:off x="548640" y="4206240"/>
            <a:ext cx="8046720" cy="365760"/>
          </a:xfrm>
          <a:prstGeom prst="rect">
            <a:avLst/>
          </a:prstGeom>
          <a:noFill/>
          <a:ln/>
        </p:spPr>
        <p:txBody>
          <a:bodyPr wrap="square" lIns="0" tIns="0" rIns="0" bIns="0" rtlCol="0"/>
          <a:lstStyle/>
          <a:p>
            <a:pPr algn="l" indent="0" marL="0">
              <a:buNone/>
            </a:pPr>
            <a:r>
              <a:rPr lang="en-US" sz="1300" dirty="0">
                <a:solidFill>
                  <a:schemeClr val="bg2"/>
                </a:solidFill>
              </a:rPr>
              <a:t>ZU-PWD '25  +  7 public Empatica datasets with stress labels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The vision: is your body in sync?</a:t>
            </a:r>
            <a:endParaRPr lang="en-US" sz="3000" dirty="0"/>
          </a:p>
        </p:txBody>
      </p:sp>
      <p:sp>
        <p:nvSpPr>
          <p:cNvPr id="3" name="Heart rate circle"/>
          <p:cNvSpPr/>
          <p:nvPr/>
        </p:nvSpPr>
        <p:spPr>
          <a:xfrm>
            <a:off x="640080" y="1325880"/>
            <a:ext cx="777240" cy="777240"/>
          </a:xfrm>
          <a:prstGeom prst="ellipse">
            <a:avLst/>
          </a:prstGeom>
          <a:solidFill>
            <a:srgbClr val="00BFA6"/>
          </a:solidFill>
          <a:ln/>
        </p:spPr>
      </p:sp>
      <p:pic>
        <p:nvPicPr>
          <p:cNvPr id="4" name="Heart rate icon" descr="Heart rate">    </p:cNvPr>
          <p:cNvPicPr>
            <a:picLocks noChangeAspect="1"/>
          </p:cNvPicPr>
          <p:nvPr/>
        </p:nvPicPr>
        <p:blipFill>
          <a:blip r:embed="rId1"/>
          <a:stretch>
            <a:fillRect/>
          </a:stretch>
        </p:blipFill>
        <p:spPr>
          <a:xfrm>
            <a:off x="811073" y="1496873"/>
            <a:ext cx="435254" cy="435254"/>
          </a:xfrm>
          <a:prstGeom prst="rect">
            <a:avLst/>
          </a:prstGeom>
        </p:spPr>
      </p:pic>
      <p:sp>
        <p:nvSpPr>
          <p:cNvPr id="5" name="Text 2"/>
          <p:cNvSpPr txBox="1"/>
          <p:nvPr/>
        </p:nvSpPr>
        <p:spPr>
          <a:xfrm>
            <a:off x="411480" y="2194560"/>
            <a:ext cx="1234440" cy="320040"/>
          </a:xfrm>
          <a:prstGeom prst="rect">
            <a:avLst/>
          </a:prstGeom>
          <a:noFill/>
          <a:ln/>
        </p:spPr>
        <p:txBody>
          <a:bodyPr wrap="square" lIns="0" tIns="0" rIns="0" bIns="0" rtlCol="0" anchor="ctr"/>
          <a:lstStyle/>
          <a:p>
            <a:pPr algn="ctr" indent="0" marL="0">
              <a:buNone/>
            </a:pPr>
            <a:r>
              <a:rPr lang="en-US" sz="1300" dirty="0">
                <a:solidFill>
                  <a:schemeClr val="bg1"/>
                </a:solidFill>
              </a:rPr>
              <a:t>Heart rate</a:t>
            </a:r>
            <a:endParaRPr lang="en-US" sz="1300" dirty="0"/>
          </a:p>
        </p:txBody>
      </p:sp>
      <p:sp>
        <p:nvSpPr>
          <p:cNvPr id="6" name="Sweat (EDA) circle"/>
          <p:cNvSpPr/>
          <p:nvPr/>
        </p:nvSpPr>
        <p:spPr>
          <a:xfrm>
            <a:off x="1783080" y="1325880"/>
            <a:ext cx="777240" cy="777240"/>
          </a:xfrm>
          <a:prstGeom prst="ellipse">
            <a:avLst/>
          </a:prstGeom>
          <a:solidFill>
            <a:srgbClr val="00BFA6"/>
          </a:solidFill>
          <a:ln/>
        </p:spPr>
      </p:sp>
      <p:pic>
        <p:nvPicPr>
          <p:cNvPr id="7" name="Sweat (EDA) icon" descr="Sweat (EDA)">    </p:cNvPr>
          <p:cNvPicPr>
            <a:picLocks noChangeAspect="1"/>
          </p:cNvPicPr>
          <p:nvPr/>
        </p:nvPicPr>
        <p:blipFill>
          <a:blip r:embed="rId2"/>
          <a:stretch>
            <a:fillRect/>
          </a:stretch>
        </p:blipFill>
        <p:spPr>
          <a:xfrm>
            <a:off x="1954073" y="1496873"/>
            <a:ext cx="435254" cy="435254"/>
          </a:xfrm>
          <a:prstGeom prst="rect">
            <a:avLst/>
          </a:prstGeom>
        </p:spPr>
      </p:pic>
      <p:sp>
        <p:nvSpPr>
          <p:cNvPr id="8" name="Text 4"/>
          <p:cNvSpPr txBox="1"/>
          <p:nvPr/>
        </p:nvSpPr>
        <p:spPr>
          <a:xfrm>
            <a:off x="1554480" y="2194560"/>
            <a:ext cx="1234440" cy="320040"/>
          </a:xfrm>
          <a:prstGeom prst="rect">
            <a:avLst/>
          </a:prstGeom>
          <a:noFill/>
          <a:ln/>
        </p:spPr>
        <p:txBody>
          <a:bodyPr wrap="square" lIns="0" tIns="0" rIns="0" bIns="0" rtlCol="0" anchor="ctr"/>
          <a:lstStyle/>
          <a:p>
            <a:pPr algn="ctr" indent="0" marL="0">
              <a:buNone/>
            </a:pPr>
            <a:r>
              <a:rPr lang="en-US" sz="1300" dirty="0">
                <a:solidFill>
                  <a:schemeClr val="bg1"/>
                </a:solidFill>
              </a:rPr>
              <a:t>Sweat (EDA)</a:t>
            </a:r>
            <a:endParaRPr lang="en-US" sz="1300" dirty="0"/>
          </a:p>
        </p:txBody>
      </p:sp>
      <p:sp>
        <p:nvSpPr>
          <p:cNvPr id="9" name="Skin temp circle"/>
          <p:cNvSpPr/>
          <p:nvPr/>
        </p:nvSpPr>
        <p:spPr>
          <a:xfrm>
            <a:off x="2926080" y="1325880"/>
            <a:ext cx="777240" cy="777240"/>
          </a:xfrm>
          <a:prstGeom prst="ellipse">
            <a:avLst/>
          </a:prstGeom>
          <a:solidFill>
            <a:srgbClr val="00BFA6"/>
          </a:solidFill>
          <a:ln/>
        </p:spPr>
      </p:sp>
      <p:pic>
        <p:nvPicPr>
          <p:cNvPr id="10" name="Skin temp icon" descr="Skin temp">    </p:cNvPr>
          <p:cNvPicPr>
            <a:picLocks noChangeAspect="1"/>
          </p:cNvPicPr>
          <p:nvPr/>
        </p:nvPicPr>
        <p:blipFill>
          <a:blip r:embed="rId3"/>
          <a:stretch>
            <a:fillRect/>
          </a:stretch>
        </p:blipFill>
        <p:spPr>
          <a:xfrm>
            <a:off x="3097073" y="1496873"/>
            <a:ext cx="435254" cy="435254"/>
          </a:xfrm>
          <a:prstGeom prst="rect">
            <a:avLst/>
          </a:prstGeom>
        </p:spPr>
      </p:pic>
      <p:sp>
        <p:nvSpPr>
          <p:cNvPr id="11" name="Text 6"/>
          <p:cNvSpPr txBox="1"/>
          <p:nvPr/>
        </p:nvSpPr>
        <p:spPr>
          <a:xfrm>
            <a:off x="2697480" y="2194560"/>
            <a:ext cx="1234440" cy="320040"/>
          </a:xfrm>
          <a:prstGeom prst="rect">
            <a:avLst/>
          </a:prstGeom>
          <a:noFill/>
          <a:ln/>
        </p:spPr>
        <p:txBody>
          <a:bodyPr wrap="square" lIns="0" tIns="0" rIns="0" bIns="0" rtlCol="0" anchor="ctr"/>
          <a:lstStyle/>
          <a:p>
            <a:pPr algn="ctr" indent="0" marL="0">
              <a:buNone/>
            </a:pPr>
            <a:r>
              <a:rPr lang="en-US" sz="1300" dirty="0">
                <a:solidFill>
                  <a:schemeClr val="bg1"/>
                </a:solidFill>
              </a:rPr>
              <a:t>Skin temp</a:t>
            </a:r>
            <a:endParaRPr lang="en-US" sz="1300" dirty="0"/>
          </a:p>
        </p:txBody>
      </p:sp>
      <p:sp>
        <p:nvSpPr>
          <p:cNvPr id="12" name="Breathing circle"/>
          <p:cNvSpPr/>
          <p:nvPr/>
        </p:nvSpPr>
        <p:spPr>
          <a:xfrm>
            <a:off x="4069080" y="1325880"/>
            <a:ext cx="777240" cy="777240"/>
          </a:xfrm>
          <a:prstGeom prst="ellipse">
            <a:avLst/>
          </a:prstGeom>
          <a:solidFill>
            <a:srgbClr val="8899AA"/>
          </a:solidFill>
          <a:ln/>
        </p:spPr>
      </p:sp>
      <p:pic>
        <p:nvPicPr>
          <p:cNvPr id="13" name="Breathing icon" descr="Breathing">    </p:cNvPr>
          <p:cNvPicPr>
            <a:picLocks noChangeAspect="1"/>
          </p:cNvPicPr>
          <p:nvPr/>
        </p:nvPicPr>
        <p:blipFill>
          <a:blip r:embed="rId4"/>
          <a:stretch>
            <a:fillRect/>
          </a:stretch>
        </p:blipFill>
        <p:spPr>
          <a:xfrm>
            <a:off x="4240073" y="1496873"/>
            <a:ext cx="435254" cy="435254"/>
          </a:xfrm>
          <a:prstGeom prst="rect">
            <a:avLst/>
          </a:prstGeom>
        </p:spPr>
      </p:pic>
      <p:sp>
        <p:nvSpPr>
          <p:cNvPr id="14" name="Text 8"/>
          <p:cNvSpPr txBox="1"/>
          <p:nvPr/>
        </p:nvSpPr>
        <p:spPr>
          <a:xfrm>
            <a:off x="3840480" y="2194560"/>
            <a:ext cx="1234440" cy="320040"/>
          </a:xfrm>
          <a:prstGeom prst="rect">
            <a:avLst/>
          </a:prstGeom>
          <a:noFill/>
          <a:ln/>
        </p:spPr>
        <p:txBody>
          <a:bodyPr wrap="square" lIns="0" tIns="0" rIns="0" bIns="0" rtlCol="0" anchor="ctr"/>
          <a:lstStyle/>
          <a:p>
            <a:pPr algn="ctr" indent="0" marL="0">
              <a:buNone/>
            </a:pPr>
            <a:r>
              <a:rPr lang="en-US" sz="1300" dirty="0">
                <a:solidFill>
                  <a:schemeClr val="bg1"/>
                </a:solidFill>
              </a:rPr>
              <a:t>Breathing</a:t>
            </a:r>
            <a:endParaRPr lang="en-US" sz="1300" dirty="0"/>
          </a:p>
        </p:txBody>
      </p:sp>
      <p:sp>
        <p:nvSpPr>
          <p:cNvPr id="15" name="Text 9"/>
          <p:cNvSpPr txBox="1"/>
          <p:nvPr/>
        </p:nvSpPr>
        <p:spPr>
          <a:xfrm>
            <a:off x="548640" y="2651760"/>
            <a:ext cx="4480560" cy="548640"/>
          </a:xfrm>
          <a:prstGeom prst="rect">
            <a:avLst/>
          </a:prstGeom>
          <a:noFill/>
          <a:ln/>
        </p:spPr>
        <p:txBody>
          <a:bodyPr wrap="square" lIns="0" tIns="0" rIns="0" bIns="0" rtlCol="0" anchor="ctr"/>
          <a:lstStyle/>
          <a:p>
            <a:pPr indent="0" marL="0">
              <a:buNone/>
            </a:pPr>
            <a:r>
              <a:rPr lang="en-US" sz="1200" i="1" dirty="0">
                <a:solidFill>
                  <a:schemeClr val="bg2"/>
                </a:solidFill>
              </a:rPr>
              <a:t>Breathing is only measured when the wrist is still, so the score runs on the first three</a:t>
            </a:r>
            <a:endParaRPr lang="en-US" sz="1200" dirty="0"/>
          </a:p>
        </p:txBody>
      </p:sp>
      <p:sp>
        <p:nvSpPr>
          <p:cNvPr id="16" name="Vision card"/>
          <p:cNvSpPr/>
          <p:nvPr/>
        </p:nvSpPr>
        <p:spPr>
          <a:xfrm>
            <a:off x="5394960" y="1188720"/>
            <a:ext cx="3291840" cy="3200400"/>
          </a:xfrm>
          <a:prstGeom prst="roundRect">
            <a:avLst>
              <a:gd name="adj" fmla="val 2286"/>
            </a:avLst>
          </a:prstGeom>
          <a:solidFill>
            <a:srgbClr val="1A2836"/>
          </a:solidFill>
          <a:ln/>
        </p:spPr>
      </p:sp>
      <p:sp>
        <p:nvSpPr>
          <p:cNvPr id="17" name="Text 11"/>
          <p:cNvSpPr txBox="1"/>
          <p:nvPr/>
        </p:nvSpPr>
        <p:spPr>
          <a:xfrm>
            <a:off x="5623560" y="1371600"/>
            <a:ext cx="2880360" cy="2834640"/>
          </a:xfrm>
          <a:prstGeom prst="rect">
            <a:avLst/>
          </a:prstGeom>
          <a:noFill/>
          <a:ln/>
        </p:spPr>
        <p:txBody>
          <a:bodyPr wrap="square" lIns="0" tIns="0" rIns="0" bIns="0" rtlCol="0" anchor="t"/>
          <a:lstStyle/>
          <a:p>
            <a:pPr indent="0" marL="0">
              <a:buNone/>
            </a:pPr>
            <a:r>
              <a:rPr lang="en-US" sz="1400" b="1" dirty="0">
                <a:solidFill>
                  <a:schemeClr val="accent1"/>
                </a:solidFill>
              </a:rPr>
              <a:t>In sync</a:t>
            </a:r>
            <a:endParaRPr lang="en-US" sz="1400" dirty="0"/>
          </a:p>
          <a:p>
            <a:pPr indent="0" marL="0">
              <a:buNone/>
            </a:pPr>
            <a:r>
              <a:rPr lang="en-US" sz="1400" dirty="0">
                <a:solidFill>
                  <a:schemeClr val="bg1"/>
                </a:solidFill>
              </a:rPr>
              <a:t>Signals move together the way they usually do for you</a:t>
            </a:r>
            <a:endParaRPr lang="en-US" sz="1400" dirty="0"/>
          </a:p>
          <a:p>
            <a:pPr indent="0" marL="0">
              <a:buNone/>
            </a:pPr>
            <a:r>
              <a:rPr lang="en-US" sz="800" dirty="0">
                <a:solidFill>
                  <a:schemeClr val="bg1"/>
                </a:solidFill>
              </a:rPr>
              <a:t> </a:t>
            </a:r>
            <a:endParaRPr lang="en-US" sz="1400" dirty="0"/>
          </a:p>
          <a:p>
            <a:pPr indent="0" marL="0">
              <a:buNone/>
            </a:pPr>
            <a:r>
              <a:rPr lang="en-US" sz="1400" b="1" dirty="0">
                <a:solidFill>
                  <a:schemeClr val="accent4"/>
                </a:solidFill>
              </a:rPr>
              <a:t>Desync</a:t>
            </a:r>
            <a:endParaRPr lang="en-US" sz="1400" dirty="0"/>
          </a:p>
          <a:p>
            <a:pPr indent="0" marL="0">
              <a:buNone/>
            </a:pPr>
            <a:r>
              <a:rPr lang="en-US" sz="1400" dirty="0">
                <a:solidFill>
                  <a:schemeClr val="bg1"/>
                </a:solidFill>
              </a:rPr>
              <a:t>They stop agreeing: stress, illness, poor sleep?</a:t>
            </a:r>
            <a:endParaRPr lang="en-US" sz="1400" dirty="0"/>
          </a:p>
          <a:p>
            <a:pPr indent="0" marL="0">
              <a:buNone/>
            </a:pPr>
            <a:r>
              <a:rPr lang="en-US" sz="800" dirty="0">
                <a:solidFill>
                  <a:schemeClr val="bg1"/>
                </a:solidFill>
              </a:rPr>
              <a:t> </a:t>
            </a:r>
            <a:endParaRPr lang="en-US" sz="1400" dirty="0"/>
          </a:p>
          <a:p>
            <a:pPr indent="0" marL="0">
              <a:buNone/>
            </a:pPr>
            <a:r>
              <a:rPr lang="en-US" sz="1400" b="1" dirty="0">
                <a:solidFill>
                  <a:schemeClr val="bg1"/>
                </a:solidFill>
              </a:rPr>
              <a:t>Goal</a:t>
            </a:r>
            <a:endParaRPr lang="en-US" sz="1400" dirty="0"/>
          </a:p>
          <a:p>
            <a:pPr indent="0" marL="0">
              <a:buNone/>
            </a:pPr>
            <a:r>
              <a:rPr lang="en-US" sz="1400" dirty="0">
                <a:solidFill>
                  <a:schemeClr val="bg1"/>
                </a:solidFill>
              </a:rPr>
              <a:t>A 0–100 score from a wristband, in everyday life</a:t>
            </a:r>
            <a:endParaRPr lang="en-US" sz="1400" dirty="0"/>
          </a:p>
        </p:txBody>
      </p:sp>
      <p:sp>
        <p:nvSpPr>
          <p:cNvPr id="18" name="Text 12"/>
          <p:cNvSpPr txBox="1"/>
          <p:nvPr/>
        </p:nvSpPr>
        <p:spPr>
          <a:xfrm>
            <a:off x="548640" y="3474720"/>
            <a:ext cx="4480560" cy="822960"/>
          </a:xfrm>
          <a:prstGeom prst="rect">
            <a:avLst/>
          </a:prstGeom>
          <a:noFill/>
          <a:ln/>
        </p:spPr>
        <p:txBody>
          <a:bodyPr wrap="square" lIns="0" tIns="0" rIns="0" bIns="0" rtlCol="0" anchor="ctr"/>
          <a:lstStyle/>
          <a:p>
            <a:pPr indent="0" marL="0">
              <a:buNone/>
            </a:pPr>
            <a:r>
              <a:rPr lang="en-US" sz="1400" dirty="0">
                <a:solidFill>
                  <a:schemeClr val="bg1"/>
                </a:solidFill>
              </a:rPr>
              <a:t>Builds on Sun et al. (2026): body signals react to health information, but they were measured separately, once, in a lab</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Why ZU-PWD alone is not enough</a:t>
            </a:r>
            <a:endParaRPr lang="en-US" sz="3000" dirty="0"/>
          </a:p>
        </p:txBody>
      </p:sp>
      <p:sp>
        <p:nvSpPr>
          <p:cNvPr id="3" name="Stat card 1"/>
          <p:cNvSpPr/>
          <p:nvPr/>
        </p:nvSpPr>
        <p:spPr>
          <a:xfrm>
            <a:off x="457200" y="1188720"/>
            <a:ext cx="2615184" cy="2286000"/>
          </a:xfrm>
          <a:prstGeom prst="roundRect">
            <a:avLst>
              <a:gd name="adj" fmla="val 3200"/>
            </a:avLst>
          </a:prstGeom>
          <a:solidFill>
            <a:srgbClr val="1A2836"/>
          </a:solidFill>
          <a:ln/>
        </p:spPr>
      </p:sp>
      <p:sp>
        <p:nvSpPr>
          <p:cNvPr id="4" name="Text 2"/>
          <p:cNvSpPr txBox="1"/>
          <p:nvPr/>
        </p:nvSpPr>
        <p:spPr>
          <a:xfrm>
            <a:off x="685800" y="132588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5" name="Text 3"/>
          <p:cNvSpPr txBox="1"/>
          <p:nvPr/>
        </p:nvSpPr>
        <p:spPr>
          <a:xfrm>
            <a:off x="685800" y="2240280"/>
            <a:ext cx="2194560" cy="548640"/>
          </a:xfrm>
          <a:prstGeom prst="rect">
            <a:avLst/>
          </a:prstGeom>
          <a:noFill/>
          <a:ln/>
        </p:spPr>
        <p:txBody>
          <a:bodyPr wrap="square" lIns="0" tIns="0" rIns="0" bIns="0" rtlCol="0" anchor="t"/>
          <a:lstStyle/>
          <a:p>
            <a:pPr indent="0" marL="0">
              <a:buNone/>
            </a:pPr>
            <a:r>
              <a:rPr lang="en-US" sz="1600" b="1" dirty="0">
                <a:solidFill>
                  <a:schemeClr val="bg1"/>
                </a:solidFill>
              </a:rPr>
              <a:t>stress labels in the free copy</a:t>
            </a:r>
            <a:endParaRPr lang="en-US" sz="1600" dirty="0"/>
          </a:p>
        </p:txBody>
      </p:sp>
      <p:sp>
        <p:nvSpPr>
          <p:cNvPr id="6" name="Text 4"/>
          <p:cNvSpPr txBox="1"/>
          <p:nvPr/>
        </p:nvSpPr>
        <p:spPr>
          <a:xfrm>
            <a:off x="685800" y="2788920"/>
            <a:ext cx="2194560" cy="594360"/>
          </a:xfrm>
          <a:prstGeom prst="rect">
            <a:avLst/>
          </a:prstGeom>
          <a:noFill/>
          <a:ln/>
        </p:spPr>
        <p:txBody>
          <a:bodyPr wrap="square" lIns="0" tIns="0" rIns="0" bIns="0" rtlCol="0" anchor="t"/>
          <a:lstStyle/>
          <a:p>
            <a:pPr indent="0" marL="0">
              <a:buNone/>
            </a:pPr>
            <a:r>
              <a:rPr lang="en-US" sz="1200" dirty="0">
                <a:solidFill>
                  <a:schemeClr val="bg2"/>
                </a:solidFill>
              </a:rPr>
              <a:t>the self-reports are behind the IEEE DataPort paywall</a:t>
            </a:r>
            <a:endParaRPr lang="en-US" sz="1200" dirty="0"/>
          </a:p>
        </p:txBody>
      </p:sp>
      <p:sp>
        <p:nvSpPr>
          <p:cNvPr id="7" name="Stat card 2"/>
          <p:cNvSpPr/>
          <p:nvPr/>
        </p:nvSpPr>
        <p:spPr>
          <a:xfrm>
            <a:off x="3264408" y="1188720"/>
            <a:ext cx="2615184" cy="2286000"/>
          </a:xfrm>
          <a:prstGeom prst="roundRect">
            <a:avLst>
              <a:gd name="adj" fmla="val 3200"/>
            </a:avLst>
          </a:prstGeom>
          <a:solidFill>
            <a:srgbClr val="1A2836"/>
          </a:solidFill>
          <a:ln/>
        </p:spPr>
      </p:sp>
      <p:sp>
        <p:nvSpPr>
          <p:cNvPr id="8" name="Text 6"/>
          <p:cNvSpPr txBox="1"/>
          <p:nvPr/>
        </p:nvSpPr>
        <p:spPr>
          <a:xfrm>
            <a:off x="3493008" y="132588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1/min</a:t>
            </a:r>
            <a:endParaRPr lang="en-US" sz="5400" dirty="0"/>
          </a:p>
        </p:txBody>
      </p:sp>
      <p:sp>
        <p:nvSpPr>
          <p:cNvPr id="9" name="Text 7"/>
          <p:cNvSpPr txBox="1"/>
          <p:nvPr/>
        </p:nvSpPr>
        <p:spPr>
          <a:xfrm>
            <a:off x="3493008" y="2240280"/>
            <a:ext cx="2194560" cy="548640"/>
          </a:xfrm>
          <a:prstGeom prst="rect">
            <a:avLst/>
          </a:prstGeom>
          <a:noFill/>
          <a:ln/>
        </p:spPr>
        <p:txBody>
          <a:bodyPr wrap="square" lIns="0" tIns="0" rIns="0" bIns="0" rtlCol="0" anchor="t"/>
          <a:lstStyle/>
          <a:p>
            <a:pPr indent="0" marL="0">
              <a:buNone/>
            </a:pPr>
            <a:r>
              <a:rPr lang="en-US" sz="1600" b="1" dirty="0">
                <a:solidFill>
                  <a:schemeClr val="bg1"/>
                </a:solidFill>
              </a:rPr>
              <a:t>readings, summarised</a:t>
            </a:r>
            <a:endParaRPr lang="en-US" sz="1600" dirty="0"/>
          </a:p>
        </p:txBody>
      </p:sp>
      <p:sp>
        <p:nvSpPr>
          <p:cNvPr id="10" name="Text 8"/>
          <p:cNvSpPr txBox="1"/>
          <p:nvPr/>
        </p:nvSpPr>
        <p:spPr>
          <a:xfrm>
            <a:off x="3493008" y="2788920"/>
            <a:ext cx="2194560" cy="594360"/>
          </a:xfrm>
          <a:prstGeom prst="rect">
            <a:avLst/>
          </a:prstGeom>
          <a:noFill/>
          <a:ln/>
        </p:spPr>
        <p:txBody>
          <a:bodyPr wrap="square" lIns="0" tIns="0" rIns="0" bIns="0" rtlCol="0" anchor="t"/>
          <a:lstStyle/>
          <a:p>
            <a:pPr indent="0" marL="0">
              <a:buNone/>
            </a:pPr>
            <a:r>
              <a:rPr lang="en-US" sz="1200" dirty="0">
                <a:solidFill>
                  <a:schemeClr val="bg2"/>
                </a:solidFill>
              </a:rPr>
              <a:t>fast reactions between signals are smoothed out</a:t>
            </a:r>
            <a:endParaRPr lang="en-US" sz="1200" dirty="0"/>
          </a:p>
        </p:txBody>
      </p:sp>
      <p:sp>
        <p:nvSpPr>
          <p:cNvPr id="11" name="Stat card 3"/>
          <p:cNvSpPr/>
          <p:nvPr/>
        </p:nvSpPr>
        <p:spPr>
          <a:xfrm>
            <a:off x="6071616" y="1188720"/>
            <a:ext cx="2615184" cy="2286000"/>
          </a:xfrm>
          <a:prstGeom prst="roundRect">
            <a:avLst>
              <a:gd name="adj" fmla="val 3200"/>
            </a:avLst>
          </a:prstGeom>
          <a:solidFill>
            <a:srgbClr val="1A2836"/>
          </a:solidFill>
          <a:ln/>
        </p:spPr>
      </p:sp>
      <p:sp>
        <p:nvSpPr>
          <p:cNvPr id="12" name="Text 10"/>
          <p:cNvSpPr txBox="1"/>
          <p:nvPr/>
        </p:nvSpPr>
        <p:spPr>
          <a:xfrm>
            <a:off x="6300216" y="132588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13" name="Text 11"/>
          <p:cNvSpPr txBox="1"/>
          <p:nvPr/>
        </p:nvSpPr>
        <p:spPr>
          <a:xfrm>
            <a:off x="6300216" y="2240280"/>
            <a:ext cx="2194560" cy="548640"/>
          </a:xfrm>
          <a:prstGeom prst="rect">
            <a:avLst/>
          </a:prstGeom>
          <a:noFill/>
          <a:ln/>
        </p:spPr>
        <p:txBody>
          <a:bodyPr wrap="square" lIns="0" tIns="0" rIns="0" bIns="0" rtlCol="0" anchor="t"/>
          <a:lstStyle/>
          <a:p>
            <a:pPr indent="0" marL="0">
              <a:buNone/>
            </a:pPr>
            <a:r>
              <a:rPr lang="en-US" sz="1600" b="1" dirty="0">
                <a:solidFill>
                  <a:schemeClr val="bg1"/>
                </a:solidFill>
              </a:rPr>
              <a:t>citations so far</a:t>
            </a:r>
            <a:endParaRPr lang="en-US" sz="1600" dirty="0"/>
          </a:p>
        </p:txBody>
      </p:sp>
      <p:sp>
        <p:nvSpPr>
          <p:cNvPr id="14" name="Text 12"/>
          <p:cNvSpPr txBox="1"/>
          <p:nvPr/>
        </p:nvSpPr>
        <p:spPr>
          <a:xfrm>
            <a:off x="6300216" y="2788920"/>
            <a:ext cx="2194560" cy="594360"/>
          </a:xfrm>
          <a:prstGeom prst="rect">
            <a:avLst/>
          </a:prstGeom>
          <a:noFill/>
          <a:ln/>
        </p:spPr>
        <p:txBody>
          <a:bodyPr wrap="square" lIns="0" tIns="0" rIns="0" bIns="0" rtlCol="0" anchor="t"/>
          <a:lstStyle/>
          <a:p>
            <a:pPr indent="0" marL="0">
              <a:buNone/>
            </a:pPr>
            <a:r>
              <a:rPr lang="en-US" sz="1200" dirty="0">
                <a:solidFill>
                  <a:schemeClr val="bg2"/>
                </a:solidFill>
              </a:rPr>
              <a:t>the dataset paper (PWI, 2025) is very new</a:t>
            </a:r>
            <a:endParaRPr lang="en-US" sz="1200" dirty="0"/>
          </a:p>
        </p:txBody>
      </p:sp>
      <p:sp>
        <p:nvSpPr>
          <p:cNvPr id="15" name="Text 13"/>
          <p:cNvSpPr txBox="1"/>
          <p:nvPr/>
        </p:nvSpPr>
        <p:spPr>
          <a:xfrm>
            <a:off x="457200" y="3749040"/>
            <a:ext cx="8229600" cy="731520"/>
          </a:xfrm>
          <a:prstGeom prst="rect">
            <a:avLst/>
          </a:prstGeom>
          <a:noFill/>
          <a:ln/>
        </p:spPr>
        <p:txBody>
          <a:bodyPr wrap="square" lIns="0" tIns="0" rIns="0" bIns="0" rtlCol="0" anchor="ctr"/>
          <a:lstStyle/>
          <a:p>
            <a:pPr indent="0" marL="0">
              <a:buNone/>
            </a:pPr>
            <a:r>
              <a:rPr lang="en-US" sz="1500" dirty="0">
                <a:solidFill>
                  <a:schemeClr val="bg1"/>
                </a:solidFill>
              </a:rPr>
              <a:t>Without labels we can compute a score, but we can't show that a low score means anything. We need data where people were known to be stressed.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Seven public Empatica datasets with stress labels</a:t>
            </a:r>
            <a:endParaRPr lang="en-US" sz="3000" dirty="0"/>
          </a:p>
        </p:txBody>
      </p:sp>
      <p:graphicFrame>
        <p:nvGraphicFramePr>
          <p:cNvPr id="5" name="Dataset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868680"/>
                <a:gridCol w="1234440"/>
                <a:gridCol w="731520"/>
                <a:gridCol w="2651760"/>
              </a:tblGrid>
              <a:tr h="329184">
                <a:tc>
                  <a:txBody>
                    <a:bodyPr/>
                    <a:lstStyle/>
                    <a:p>
                      <a:pPr indent="0" marL="0">
                        <a:buNone/>
                      </a:pPr>
                      <a:r>
                        <a:rPr lang="en-US" sz="1100" b="1" dirty="0">
                          <a:solidFill>
                            <a:srgbClr val="0F1923"/>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0BFA6"/>
                    </a:solidFill>
                  </a:tcPr>
                </a:tc>
                <a:tc>
                  <a:txBody>
                    <a:bodyPr/>
                    <a:lstStyle/>
                    <a:p>
                      <a:pPr indent="0" marL="0">
                        <a:buNone/>
                      </a:pPr>
                      <a:r>
                        <a:rPr lang="en-US" sz="1100" b="1" dirty="0">
                          <a:solidFill>
                            <a:srgbClr val="0F1923"/>
                          </a:solidFill>
                          <a:latin typeface="Calibri" pitchFamily="34" charset="0"/>
                          <a:ea typeface="Calibri" pitchFamily="34" charset="-122"/>
                          <a:cs typeface="Calibri" pitchFamily="34" charset="-120"/>
                        </a:rPr>
                        <a:t>Citations</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0BFA6"/>
                    </a:solidFill>
                  </a:tcPr>
                </a:tc>
                <a:tc>
                  <a:txBody>
                    <a:bodyPr/>
                    <a:lstStyle/>
                    <a:p>
                      <a:pPr indent="0" marL="0">
                        <a:buNone/>
                      </a:pPr>
                      <a:r>
                        <a:rPr lang="en-US" sz="1100" b="1" dirty="0">
                          <a:solidFill>
                            <a:srgbClr val="0F1923"/>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0BFA6"/>
                    </a:solidFill>
                  </a:tcPr>
                </a:tc>
                <a:tc>
                  <a:txBody>
                    <a:bodyPr/>
                    <a:lstStyle/>
                    <a:p>
                      <a:pPr indent="0" marL="0">
                        <a:buNone/>
                      </a:pPr>
                      <a:r>
                        <a:rPr lang="en-US" sz="1100" b="1" dirty="0">
                          <a:solidFill>
                            <a:srgbClr val="0F1923"/>
                          </a:solidFill>
                          <a:latin typeface="Calibri" pitchFamily="34" charset="0"/>
                          <a:ea typeface="Calibri" pitchFamily="34" charset="-122"/>
                          <a:cs typeface="Calibri" pitchFamily="34" charset="-120"/>
                        </a:rPr>
                        <a:t>People</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0BFA6"/>
                    </a:solidFill>
                  </a:tcPr>
                </a:tc>
                <a:tc>
                  <a:txBody>
                    <a:bodyPr/>
                    <a:lstStyle/>
                    <a:p>
                      <a:pPr indent="0" marL="0">
                        <a:buNone/>
                      </a:pPr>
                      <a:r>
                        <a:rPr lang="en-US" sz="1100" b="1" dirty="0">
                          <a:solidFill>
                            <a:srgbClr val="0F1923"/>
                          </a:solidFill>
                          <a:latin typeface="Calibri" pitchFamily="34" charset="0"/>
                          <a:ea typeface="Calibri" pitchFamily="34" charset="-122"/>
                          <a:cs typeface="Calibri" pitchFamily="34" charset="-120"/>
                        </a:rPr>
                        <a:t>Stress label</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0BFA6"/>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WESAD (Schmidt 2018)</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b="1" dirty="0">
                          <a:solidFill>
                            <a:srgbClr val="F0F4F8"/>
                          </a:solidFill>
                          <a:latin typeface="Calibri" pitchFamily="34" charset="0"/>
                          <a:ea typeface="Calibri" pitchFamily="34" charset="-122"/>
                          <a:cs typeface="Calibri" pitchFamily="34" charset="-120"/>
                        </a:rPr>
                        <a:t>1,352</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Speech + maths stress test (TSST)</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Nurse stress (Hosseini 2022, Sci Data)</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b="1" dirty="0">
                          <a:solidFill>
                            <a:srgbClr val="F0F4F8"/>
                          </a:solidFill>
                          <a:latin typeface="Calibri" pitchFamily="34" charset="0"/>
                          <a:ea typeface="Calibri" pitchFamily="34" charset="-122"/>
                          <a:cs typeface="Calibri" pitchFamily="34" charset="-120"/>
                        </a:rPr>
                        <a:t>119</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Hospital shifts</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Nurses rated their stress</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Stress-Predict (Iqbal 2023)</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Stroop test + interview</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Stress + exercise (Hongn 2025, Sci Data)</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Stress tasks + cycling sessions</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EmpaticaE4Stress (2024, Data in Brief)</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Timed puzzle tasks</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ADARP (Sah 2022)</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Daily life</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Button press when stressed</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0F1923"/>
                    </a:solidFill>
                  </a:tcPr>
                </a:tc>
              </a:tr>
              <a:tr h="329184">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CAN-STRESS (2025)</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Daily life</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r" indent="0" marL="0">
                        <a:buNone/>
                      </a:pPr>
                      <a:r>
                        <a:rPr lang="en-US" sz="1100" dirty="0">
                          <a:solidFill>
                            <a:srgbClr val="F0F4F8"/>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Stress ratings 0–9</a:t>
                      </a:r>
                      <a:endParaRPr lang="en-US" sz="11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0" cap="flat" cmpd="sng" algn="ctr">
                      <a:noFill/>
                    </a:lnB>
                    <a:solidFill>
                      <a:srgbClr val="1A2836"/>
                    </a:solidFill>
                  </a:tcPr>
                </a:tc>
              </a:tr>
            </a:tbl>
          </a:graphicData>
        </a:graphic>
      </p:graphicFrame>
      <p:sp>
        <p:nvSpPr>
          <p:cNvPr id="4" name="Text 1"/>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000" dirty="0">
                <a:solidFill>
                  <a:schemeClr val="bg2"/>
                </a:solidFill>
              </a:rPr>
              <a:t>Citation counts from OpenAlex, October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Why these datasets</a:t>
            </a:r>
            <a:endParaRPr lang="en-US" sz="3000" dirty="0"/>
          </a:p>
        </p:txBody>
      </p:sp>
      <p:sp>
        <p:nvSpPr>
          <p:cNvPr id="3" name="Same sensors circle"/>
          <p:cNvSpPr/>
          <p:nvPr/>
        </p:nvSpPr>
        <p:spPr>
          <a:xfrm>
            <a:off x="548640" y="1143000"/>
            <a:ext cx="685800" cy="685800"/>
          </a:xfrm>
          <a:prstGeom prst="ellipse">
            <a:avLst/>
          </a:prstGeom>
          <a:solidFill>
            <a:srgbClr val="00BFA6"/>
          </a:solidFill>
          <a:ln/>
        </p:spPr>
      </p:sp>
      <p:pic>
        <p:nvPicPr>
          <p:cNvPr id="4" name="Same sensors icon" descr="Same sensors">    </p:cNvPr>
          <p:cNvPicPr>
            <a:picLocks noChangeAspect="1"/>
          </p:cNvPicPr>
          <p:nvPr/>
        </p:nvPicPr>
        <p:blipFill>
          <a:blip r:embed="rId1"/>
          <a:stretch>
            <a:fillRect/>
          </a:stretch>
        </p:blipFill>
        <p:spPr>
          <a:xfrm>
            <a:off x="699516" y="1293876"/>
            <a:ext cx="384048" cy="384048"/>
          </a:xfrm>
          <a:prstGeom prst="rect">
            <a:avLst/>
          </a:prstGeom>
        </p:spPr>
      </p:pic>
      <p:sp>
        <p:nvSpPr>
          <p:cNvPr id="5" name="Text 2"/>
          <p:cNvSpPr txBox="1"/>
          <p:nvPr/>
        </p:nvSpPr>
        <p:spPr>
          <a:xfrm>
            <a:off x="1463040" y="1124712"/>
            <a:ext cx="7132320" cy="320040"/>
          </a:xfrm>
          <a:prstGeom prst="rect">
            <a:avLst/>
          </a:prstGeom>
          <a:noFill/>
          <a:ln/>
        </p:spPr>
        <p:txBody>
          <a:bodyPr wrap="square" lIns="0" tIns="0" rIns="0" bIns="0" rtlCol="0" anchor="ctr"/>
          <a:lstStyle/>
          <a:p>
            <a:pPr indent="0" marL="0">
              <a:buNone/>
            </a:pPr>
            <a:r>
              <a:rPr lang="en-US" sz="1800" b="1" dirty="0">
                <a:solidFill>
                  <a:schemeClr val="bg1"/>
                </a:solidFill>
              </a:rPr>
              <a:t>Same sensors</a:t>
            </a:r>
            <a:endParaRPr lang="en-US" sz="1800" dirty="0"/>
          </a:p>
        </p:txBody>
      </p:sp>
      <p:sp>
        <p:nvSpPr>
          <p:cNvPr id="6" name="Text 3"/>
          <p:cNvSpPr txBox="1"/>
          <p:nvPr/>
        </p:nvSpPr>
        <p:spPr>
          <a:xfrm>
            <a:off x="1463040" y="1490472"/>
            <a:ext cx="7132320" cy="548640"/>
          </a:xfrm>
          <a:prstGeom prst="rect">
            <a:avLst/>
          </a:prstGeom>
          <a:noFill/>
          <a:ln/>
        </p:spPr>
        <p:txBody>
          <a:bodyPr wrap="square" lIns="0" tIns="0" rIns="0" bIns="0" rtlCol="0" anchor="t"/>
          <a:lstStyle/>
          <a:p>
            <a:pPr indent="0" marL="0">
              <a:buNone/>
            </a:pPr>
            <a:r>
              <a:rPr lang="en-US" sz="1400" dirty="0">
                <a:solidFill>
                  <a:schemeClr val="bg2"/>
                </a:solidFill>
              </a:rPr>
              <a:t>All use the Empatica E4, the predecessor of our EmbracePlus. Same three signals: heart rate, sweat, skin temperature</a:t>
            </a:r>
            <a:endParaRPr lang="en-US" sz="1400" dirty="0"/>
          </a:p>
        </p:txBody>
      </p:sp>
      <p:sp>
        <p:nvSpPr>
          <p:cNvPr id="7" name="Lab and real life circle"/>
          <p:cNvSpPr/>
          <p:nvPr/>
        </p:nvSpPr>
        <p:spPr>
          <a:xfrm>
            <a:off x="548640" y="2240280"/>
            <a:ext cx="685800" cy="685800"/>
          </a:xfrm>
          <a:prstGeom prst="ellipse">
            <a:avLst/>
          </a:prstGeom>
          <a:solidFill>
            <a:srgbClr val="00BFA6"/>
          </a:solidFill>
          <a:ln/>
        </p:spPr>
      </p:sp>
      <p:pic>
        <p:nvPicPr>
          <p:cNvPr id="8" name="Lab and real life icon" descr="Lab and real life">    </p:cNvPr>
          <p:cNvPicPr>
            <a:picLocks noChangeAspect="1"/>
          </p:cNvPicPr>
          <p:nvPr/>
        </p:nvPicPr>
        <p:blipFill>
          <a:blip r:embed="rId2"/>
          <a:stretch>
            <a:fillRect/>
          </a:stretch>
        </p:blipFill>
        <p:spPr>
          <a:xfrm>
            <a:off x="699516" y="2391156"/>
            <a:ext cx="384048" cy="384048"/>
          </a:xfrm>
          <a:prstGeom prst="rect">
            <a:avLst/>
          </a:prstGeom>
        </p:spPr>
      </p:pic>
      <p:sp>
        <p:nvSpPr>
          <p:cNvPr id="9" name="Text 5"/>
          <p:cNvSpPr txBox="1"/>
          <p:nvPr/>
        </p:nvSpPr>
        <p:spPr>
          <a:xfrm>
            <a:off x="1463040" y="2221992"/>
            <a:ext cx="7132320" cy="320040"/>
          </a:xfrm>
          <a:prstGeom prst="rect">
            <a:avLst/>
          </a:prstGeom>
          <a:noFill/>
          <a:ln/>
        </p:spPr>
        <p:txBody>
          <a:bodyPr wrap="square" lIns="0" tIns="0" rIns="0" bIns="0" rtlCol="0" anchor="ctr"/>
          <a:lstStyle/>
          <a:p>
            <a:pPr indent="0" marL="0">
              <a:buNone/>
            </a:pPr>
            <a:r>
              <a:rPr lang="en-US" sz="1800" b="1" dirty="0">
                <a:solidFill>
                  <a:schemeClr val="bg1"/>
                </a:solidFill>
              </a:rPr>
              <a:t>Lab and real life</a:t>
            </a:r>
            <a:endParaRPr lang="en-US" sz="1800" dirty="0"/>
          </a:p>
        </p:txBody>
      </p:sp>
      <p:sp>
        <p:nvSpPr>
          <p:cNvPr id="10" name="Text 6"/>
          <p:cNvSpPr txBox="1"/>
          <p:nvPr/>
        </p:nvSpPr>
        <p:spPr>
          <a:xfrm>
            <a:off x="1463040" y="2587752"/>
            <a:ext cx="7132320" cy="548640"/>
          </a:xfrm>
          <a:prstGeom prst="rect">
            <a:avLst/>
          </a:prstGeom>
          <a:noFill/>
          <a:ln/>
        </p:spPr>
        <p:txBody>
          <a:bodyPr wrap="square" lIns="0" tIns="0" rIns="0" bIns="0" rtlCol="0" anchor="t"/>
          <a:lstStyle/>
          <a:p>
            <a:pPr indent="0" marL="0">
              <a:buNone/>
            </a:pPr>
            <a:r>
              <a:rPr lang="en-US" sz="1400" dirty="0">
                <a:solidFill>
                  <a:schemeClr val="bg2"/>
                </a:solidFill>
              </a:rPr>
              <a:t>Four lab studies with a controlled stressor, three from daily life or work. This tests the score where stress is clear and where it is messy</a:t>
            </a:r>
            <a:endParaRPr lang="en-US" sz="1400" dirty="0"/>
          </a:p>
        </p:txBody>
      </p:sp>
      <p:sp>
        <p:nvSpPr>
          <p:cNvPr id="11" name="Well cited circle"/>
          <p:cNvSpPr/>
          <p:nvPr/>
        </p:nvSpPr>
        <p:spPr>
          <a:xfrm>
            <a:off x="548640" y="3337560"/>
            <a:ext cx="685800" cy="685800"/>
          </a:xfrm>
          <a:prstGeom prst="ellipse">
            <a:avLst/>
          </a:prstGeom>
          <a:solidFill>
            <a:srgbClr val="00BFA6"/>
          </a:solidFill>
          <a:ln/>
        </p:spPr>
      </p:sp>
      <p:pic>
        <p:nvPicPr>
          <p:cNvPr id="12" name="Well cited icon" descr="Well cited">    </p:cNvPr>
          <p:cNvPicPr>
            <a:picLocks noChangeAspect="1"/>
          </p:cNvPicPr>
          <p:nvPr/>
        </p:nvPicPr>
        <p:blipFill>
          <a:blip r:embed="rId3"/>
          <a:stretch>
            <a:fillRect/>
          </a:stretch>
        </p:blipFill>
        <p:spPr>
          <a:xfrm>
            <a:off x="699516" y="3488436"/>
            <a:ext cx="384048" cy="384048"/>
          </a:xfrm>
          <a:prstGeom prst="rect">
            <a:avLst/>
          </a:prstGeom>
        </p:spPr>
      </p:pic>
      <p:sp>
        <p:nvSpPr>
          <p:cNvPr id="13" name="Text 8"/>
          <p:cNvSpPr txBox="1"/>
          <p:nvPr/>
        </p:nvSpPr>
        <p:spPr>
          <a:xfrm>
            <a:off x="1463040" y="3319272"/>
            <a:ext cx="7132320" cy="320040"/>
          </a:xfrm>
          <a:prstGeom prst="rect">
            <a:avLst/>
          </a:prstGeom>
          <a:noFill/>
          <a:ln/>
        </p:spPr>
        <p:txBody>
          <a:bodyPr wrap="square" lIns="0" tIns="0" rIns="0" bIns="0" rtlCol="0" anchor="ctr"/>
          <a:lstStyle/>
          <a:p>
            <a:pPr indent="0" marL="0">
              <a:buNone/>
            </a:pPr>
            <a:r>
              <a:rPr lang="en-US" sz="1800" b="1" dirty="0">
                <a:solidFill>
                  <a:schemeClr val="bg1"/>
                </a:solidFill>
              </a:rPr>
              <a:t>Well cited</a:t>
            </a:r>
            <a:endParaRPr lang="en-US" sz="1800" dirty="0"/>
          </a:p>
        </p:txBody>
      </p:sp>
      <p:sp>
        <p:nvSpPr>
          <p:cNvPr id="14" name="Text 9"/>
          <p:cNvSpPr txBox="1"/>
          <p:nvPr/>
        </p:nvSpPr>
        <p:spPr>
          <a:xfrm>
            <a:off x="1463040" y="3685032"/>
            <a:ext cx="7132320" cy="548640"/>
          </a:xfrm>
          <a:prstGeom prst="rect">
            <a:avLst/>
          </a:prstGeom>
          <a:noFill/>
          <a:ln/>
        </p:spPr>
        <p:txBody>
          <a:bodyPr wrap="square" lIns="0" tIns="0" rIns="0" bIns="0" rtlCol="0" anchor="t"/>
          <a:lstStyle/>
          <a:p>
            <a:pPr indent="0" marL="0">
              <a:buNone/>
            </a:pPr>
            <a:r>
              <a:rPr lang="en-US" sz="1400" dirty="0">
                <a:solidFill>
                  <a:schemeClr val="bg2"/>
                </a:solidFill>
              </a:rPr>
              <a:t>About 1,600 citations combined. WESAD alone is the field's standard benchmark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Two candidate scores to compare</a:t>
            </a:r>
            <a:endParaRPr lang="en-US" sz="3000" dirty="0"/>
          </a:p>
        </p:txBody>
      </p:sp>
      <p:sp>
        <p:nvSpPr>
          <p:cNvPr id="3" name="Score card A"/>
          <p:cNvSpPr/>
          <p:nvPr/>
        </p:nvSpPr>
        <p:spPr>
          <a:xfrm>
            <a:off x="457200" y="1143000"/>
            <a:ext cx="4023360" cy="2103120"/>
          </a:xfrm>
          <a:prstGeom prst="roundRect">
            <a:avLst>
              <a:gd name="adj" fmla="val 3478"/>
            </a:avLst>
          </a:prstGeom>
          <a:solidFill>
            <a:srgbClr val="1A2836"/>
          </a:solidFill>
          <a:ln/>
        </p:spPr>
      </p:sp>
      <p:sp>
        <p:nvSpPr>
          <p:cNvPr id="4" name="Badge A"/>
          <p:cNvSpPr/>
          <p:nvPr/>
        </p:nvSpPr>
        <p:spPr>
          <a:xfrm>
            <a:off x="731520" y="1325880"/>
            <a:ext cx="548640" cy="548640"/>
          </a:xfrm>
          <a:prstGeom prst="ellipse">
            <a:avLst/>
          </a:prstGeom>
          <a:solidFill>
            <a:srgbClr val="00BFA6"/>
          </a:solidFill>
          <a:ln/>
        </p:spPr>
      </p:sp>
      <p:sp>
        <p:nvSpPr>
          <p:cNvPr id="5" name="Text 3"/>
          <p:cNvSpPr txBox="1"/>
          <p:nvPr/>
        </p:nvSpPr>
        <p:spPr>
          <a:xfrm>
            <a:off x="731520" y="132588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rPr>
              <a:t>A</a:t>
            </a:r>
            <a:endParaRPr lang="en-US" sz="2200" dirty="0"/>
          </a:p>
        </p:txBody>
      </p:sp>
      <p:sp>
        <p:nvSpPr>
          <p:cNvPr id="6" name="Text 4"/>
          <p:cNvSpPr txBox="1"/>
          <p:nvPr/>
        </p:nvSpPr>
        <p:spPr>
          <a:xfrm>
            <a:off x="1417320" y="1325880"/>
            <a:ext cx="2880360" cy="548640"/>
          </a:xfrm>
          <a:prstGeom prst="rect">
            <a:avLst/>
          </a:prstGeom>
          <a:noFill/>
          <a:ln/>
        </p:spPr>
        <p:txBody>
          <a:bodyPr wrap="square" lIns="0" tIns="0" rIns="0" bIns="0" rtlCol="0" anchor="ctr"/>
          <a:lstStyle/>
          <a:p>
            <a:pPr indent="0" marL="0">
              <a:buNone/>
            </a:pPr>
            <a:r>
              <a:rPr lang="en-US" sz="1700" b="1" dirty="0">
                <a:solidFill>
                  <a:schemeClr val="bg1"/>
                </a:solidFill>
              </a:rPr>
              <a:t>Sync score (original vision)</a:t>
            </a:r>
            <a:endParaRPr lang="en-US" sz="1700" dirty="0"/>
          </a:p>
        </p:txBody>
      </p:sp>
      <p:sp>
        <p:nvSpPr>
          <p:cNvPr id="7" name="Text 5"/>
          <p:cNvSpPr txBox="1"/>
          <p:nvPr/>
        </p:nvSpPr>
        <p:spPr>
          <a:xfrm>
            <a:off x="731520" y="2011680"/>
            <a:ext cx="3520440" cy="1097280"/>
          </a:xfrm>
          <a:prstGeom prst="rect">
            <a:avLst/>
          </a:prstGeom>
          <a:noFill/>
          <a:ln/>
        </p:spPr>
        <p:txBody>
          <a:bodyPr wrap="square" lIns="0" tIns="0" rIns="0" bIns="0" rtlCol="0" anchor="t"/>
          <a:lstStyle/>
          <a:p>
            <a:pPr indent="0" marL="0">
              <a:buNone/>
            </a:pPr>
            <a:r>
              <a:rPr lang="en-US" sz="1400" dirty="0">
                <a:solidFill>
                  <a:schemeClr val="bg1"/>
                </a:solidFill>
              </a:rPr>
              <a:t>Rolling correlation between heart rate–sweat, heart rate–temp and sweat–temp. Low score = signals stop moving together the way they usually do for you</a:t>
            </a:r>
            <a:endParaRPr lang="en-US" sz="1400" dirty="0"/>
          </a:p>
        </p:txBody>
      </p:sp>
      <p:sp>
        <p:nvSpPr>
          <p:cNvPr id="8" name="Score card B"/>
          <p:cNvSpPr/>
          <p:nvPr/>
        </p:nvSpPr>
        <p:spPr>
          <a:xfrm>
            <a:off x="4663440" y="1143000"/>
            <a:ext cx="4023360" cy="2103120"/>
          </a:xfrm>
          <a:prstGeom prst="roundRect">
            <a:avLst>
              <a:gd name="adj" fmla="val 3478"/>
            </a:avLst>
          </a:prstGeom>
          <a:solidFill>
            <a:srgbClr val="1A2836"/>
          </a:solidFill>
          <a:ln/>
        </p:spPr>
      </p:sp>
      <p:sp>
        <p:nvSpPr>
          <p:cNvPr id="9" name="Badge B"/>
          <p:cNvSpPr/>
          <p:nvPr/>
        </p:nvSpPr>
        <p:spPr>
          <a:xfrm>
            <a:off x="4937760" y="1325880"/>
            <a:ext cx="548640" cy="548640"/>
          </a:xfrm>
          <a:prstGeom prst="ellipse">
            <a:avLst/>
          </a:prstGeom>
          <a:solidFill>
            <a:srgbClr val="E59A4C"/>
          </a:solidFill>
          <a:ln/>
        </p:spPr>
      </p:sp>
      <p:sp>
        <p:nvSpPr>
          <p:cNvPr id="10" name="Text 8"/>
          <p:cNvSpPr txBox="1"/>
          <p:nvPr/>
        </p:nvSpPr>
        <p:spPr>
          <a:xfrm>
            <a:off x="4937760" y="132588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rPr>
              <a:t>B</a:t>
            </a:r>
            <a:endParaRPr lang="en-US" sz="2200" dirty="0"/>
          </a:p>
        </p:txBody>
      </p:sp>
      <p:sp>
        <p:nvSpPr>
          <p:cNvPr id="11" name="Text 9"/>
          <p:cNvSpPr txBox="1"/>
          <p:nvPr/>
        </p:nvSpPr>
        <p:spPr>
          <a:xfrm>
            <a:off x="5623560" y="1325880"/>
            <a:ext cx="2880360" cy="548640"/>
          </a:xfrm>
          <a:prstGeom prst="rect">
            <a:avLst/>
          </a:prstGeom>
          <a:noFill/>
          <a:ln/>
        </p:spPr>
        <p:txBody>
          <a:bodyPr wrap="square" lIns="0" tIns="0" rIns="0" bIns="0" rtlCol="0" anchor="ctr"/>
          <a:lstStyle/>
          <a:p>
            <a:pPr indent="0" marL="0">
              <a:buNone/>
            </a:pPr>
            <a:r>
              <a:rPr lang="en-US" sz="1700" b="1" dirty="0">
                <a:solidFill>
                  <a:schemeClr val="bg1"/>
                </a:solidFill>
              </a:rPr>
              <a:t>Personal-normal score</a:t>
            </a:r>
            <a:endParaRPr lang="en-US" sz="1700" dirty="0"/>
          </a:p>
        </p:txBody>
      </p:sp>
      <p:sp>
        <p:nvSpPr>
          <p:cNvPr id="12" name="Text 10"/>
          <p:cNvSpPr txBox="1"/>
          <p:nvPr/>
        </p:nvSpPr>
        <p:spPr>
          <a:xfrm>
            <a:off x="4937760" y="2011680"/>
            <a:ext cx="3520440" cy="1097280"/>
          </a:xfrm>
          <a:prstGeom prst="rect">
            <a:avLst/>
          </a:prstGeom>
          <a:noFill/>
          <a:ln/>
        </p:spPr>
        <p:txBody>
          <a:bodyPr wrap="square" lIns="0" tIns="0" rIns="0" bIns="0" rtlCol="0" anchor="t"/>
          <a:lstStyle/>
          <a:p>
            <a:pPr indent="0" marL="0">
              <a:buNone/>
            </a:pPr>
            <a:r>
              <a:rPr lang="en-US" sz="1400" dirty="0">
                <a:solidFill>
                  <a:schemeClr val="bg1"/>
                </a:solidFill>
              </a:rPr>
              <a:t>How far heart rate, sweat and temp are from your own normal for the same activity (asleep, resting, active). Low score = far from your normal</a:t>
            </a:r>
            <a:endParaRPr lang="en-US" sz="1400" dirty="0"/>
          </a:p>
        </p:txBody>
      </p:sp>
      <p:sp>
        <p:nvSpPr>
          <p:cNvPr id="13" name="Text 11"/>
          <p:cNvSpPr txBox="1"/>
          <p:nvPr/>
        </p:nvSpPr>
        <p:spPr>
          <a:xfrm>
            <a:off x="457200" y="3566160"/>
            <a:ext cx="8229600" cy="548640"/>
          </a:xfrm>
          <a:prstGeom prst="rect">
            <a:avLst/>
          </a:prstGeom>
          <a:noFill/>
          <a:ln/>
        </p:spPr>
        <p:txBody>
          <a:bodyPr wrap="square" lIns="0" tIns="0" rIns="0" bIns="0" rtlCol="0" anchor="ctr"/>
          <a:lstStyle/>
          <a:p>
            <a:pPr indent="0" marL="0">
              <a:buNone/>
            </a:pPr>
            <a:r>
              <a:rPr lang="en-US" sz="1500" i="1" dirty="0">
                <a:solidFill>
                  <a:schemeClr val="accent1"/>
                </a:solidFill>
              </a:rPr>
              <a:t>Both run 0–100 on the same windows. The question: which one drops when people are stressed?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How we'll test it</a:t>
            </a:r>
            <a:endParaRPr lang="en-US" sz="3000" dirty="0"/>
          </a:p>
        </p:txBody>
      </p:sp>
      <p:sp>
        <p:nvSpPr>
          <p:cNvPr id="3" name="Step 1"/>
          <p:cNvSpPr/>
          <p:nvPr/>
        </p:nvSpPr>
        <p:spPr>
          <a:xfrm>
            <a:off x="457200" y="1188720"/>
            <a:ext cx="1517904" cy="2148840"/>
          </a:xfrm>
          <a:prstGeom prst="roundRect">
            <a:avLst>
              <a:gd name="adj" fmla="val 4819"/>
            </a:avLst>
          </a:prstGeom>
          <a:solidFill>
            <a:srgbClr val="1A2836"/>
          </a:solidFill>
          <a:ln/>
        </p:spPr>
      </p:sp>
      <p:sp>
        <p:nvSpPr>
          <p:cNvPr id="4" name="Step badge 1"/>
          <p:cNvSpPr/>
          <p:nvPr/>
        </p:nvSpPr>
        <p:spPr>
          <a:xfrm>
            <a:off x="941832" y="1371600"/>
            <a:ext cx="548640" cy="548640"/>
          </a:xfrm>
          <a:prstGeom prst="ellipse">
            <a:avLst/>
          </a:prstGeom>
          <a:solidFill>
            <a:srgbClr val="00BFA6"/>
          </a:solidFill>
          <a:ln/>
        </p:spPr>
      </p:sp>
      <p:sp>
        <p:nvSpPr>
          <p:cNvPr id="5" name="Text 3"/>
          <p:cNvSpPr txBox="1"/>
          <p:nvPr/>
        </p:nvSpPr>
        <p:spPr>
          <a:xfrm>
            <a:off x="941832" y="1371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Text 4"/>
          <p:cNvSpPr txBox="1"/>
          <p:nvPr/>
        </p:nvSpPr>
        <p:spPr>
          <a:xfrm>
            <a:off x="566928" y="2057400"/>
            <a:ext cx="1298448" cy="365760"/>
          </a:xfrm>
          <a:prstGeom prst="rect">
            <a:avLst/>
          </a:prstGeom>
          <a:noFill/>
          <a:ln/>
        </p:spPr>
        <p:txBody>
          <a:bodyPr wrap="square" lIns="0" tIns="0" rIns="0" bIns="0" rtlCol="0" anchor="ctr"/>
          <a:lstStyle/>
          <a:p>
            <a:pPr algn="ctr" indent="0" marL="0">
              <a:buNone/>
            </a:pPr>
            <a:r>
              <a:rPr lang="en-US" sz="1500" b="1" dirty="0">
                <a:solidFill>
                  <a:schemeClr val="bg1"/>
                </a:solidFill>
              </a:rPr>
              <a:t>Convert</a:t>
            </a:r>
            <a:endParaRPr lang="en-US" sz="1500" dirty="0"/>
          </a:p>
        </p:txBody>
      </p:sp>
      <p:sp>
        <p:nvSpPr>
          <p:cNvPr id="7" name="Text 5"/>
          <p:cNvSpPr txBox="1"/>
          <p:nvPr/>
        </p:nvSpPr>
        <p:spPr>
          <a:xfrm>
            <a:off x="566928" y="2468880"/>
            <a:ext cx="1298448" cy="822960"/>
          </a:xfrm>
          <a:prstGeom prst="rect">
            <a:avLst/>
          </a:prstGeom>
          <a:noFill/>
          <a:ln/>
        </p:spPr>
        <p:txBody>
          <a:bodyPr wrap="square" lIns="0" tIns="0" rIns="0" bIns="0" rtlCol="0" anchor="t"/>
          <a:lstStyle/>
          <a:p>
            <a:pPr algn="ctr" indent="0" marL="0">
              <a:buNone/>
            </a:pPr>
            <a:r>
              <a:rPr lang="en-US" sz="1200" dirty="0">
                <a:solidFill>
                  <a:schemeClr val="bg2"/>
                </a:solidFill>
              </a:rPr>
              <a:t>All 7 datasets into one common format</a:t>
            </a:r>
            <a:endParaRPr lang="en-US" sz="1200" dirty="0"/>
          </a:p>
        </p:txBody>
      </p:sp>
      <p:sp>
        <p:nvSpPr>
          <p:cNvPr id="8" name="Step 2"/>
          <p:cNvSpPr/>
          <p:nvPr/>
        </p:nvSpPr>
        <p:spPr>
          <a:xfrm>
            <a:off x="2139696" y="1188720"/>
            <a:ext cx="1517904" cy="2148840"/>
          </a:xfrm>
          <a:prstGeom prst="roundRect">
            <a:avLst>
              <a:gd name="adj" fmla="val 4819"/>
            </a:avLst>
          </a:prstGeom>
          <a:solidFill>
            <a:srgbClr val="1A2836"/>
          </a:solidFill>
          <a:ln/>
        </p:spPr>
      </p:sp>
      <p:sp>
        <p:nvSpPr>
          <p:cNvPr id="9" name="Step badge 2"/>
          <p:cNvSpPr/>
          <p:nvPr/>
        </p:nvSpPr>
        <p:spPr>
          <a:xfrm>
            <a:off x="2624328" y="1371600"/>
            <a:ext cx="548640" cy="548640"/>
          </a:xfrm>
          <a:prstGeom prst="ellipse">
            <a:avLst/>
          </a:prstGeom>
          <a:solidFill>
            <a:srgbClr val="00BFA6"/>
          </a:solidFill>
          <a:ln/>
        </p:spPr>
      </p:sp>
      <p:sp>
        <p:nvSpPr>
          <p:cNvPr id="10" name="Text 8"/>
          <p:cNvSpPr txBox="1"/>
          <p:nvPr/>
        </p:nvSpPr>
        <p:spPr>
          <a:xfrm>
            <a:off x="2624328" y="1371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1" name="Text 9"/>
          <p:cNvSpPr txBox="1"/>
          <p:nvPr/>
        </p:nvSpPr>
        <p:spPr>
          <a:xfrm>
            <a:off x="2249424" y="2057400"/>
            <a:ext cx="1298448" cy="365760"/>
          </a:xfrm>
          <a:prstGeom prst="rect">
            <a:avLst/>
          </a:prstGeom>
          <a:noFill/>
          <a:ln/>
        </p:spPr>
        <p:txBody>
          <a:bodyPr wrap="square" lIns="0" tIns="0" rIns="0" bIns="0" rtlCol="0" anchor="ctr"/>
          <a:lstStyle/>
          <a:p>
            <a:pPr algn="ctr" indent="0" marL="0">
              <a:buNone/>
            </a:pPr>
            <a:r>
              <a:rPr lang="en-US" sz="1500" b="1" dirty="0">
                <a:solidFill>
                  <a:schemeClr val="bg1"/>
                </a:solidFill>
              </a:rPr>
              <a:t>Score</a:t>
            </a:r>
            <a:endParaRPr lang="en-US" sz="1500" dirty="0"/>
          </a:p>
        </p:txBody>
      </p:sp>
      <p:sp>
        <p:nvSpPr>
          <p:cNvPr id="12" name="Text 10"/>
          <p:cNvSpPr txBox="1"/>
          <p:nvPr/>
        </p:nvSpPr>
        <p:spPr>
          <a:xfrm>
            <a:off x="2249424" y="2468880"/>
            <a:ext cx="1298448" cy="822960"/>
          </a:xfrm>
          <a:prstGeom prst="rect">
            <a:avLst/>
          </a:prstGeom>
          <a:noFill/>
          <a:ln/>
        </p:spPr>
        <p:txBody>
          <a:bodyPr wrap="square" lIns="0" tIns="0" rIns="0" bIns="0" rtlCol="0" anchor="t"/>
          <a:lstStyle/>
          <a:p>
            <a:pPr algn="ctr" indent="0" marL="0">
              <a:buNone/>
            </a:pPr>
            <a:r>
              <a:rPr lang="en-US" sz="1200" dirty="0">
                <a:solidFill>
                  <a:schemeClr val="bg2"/>
                </a:solidFill>
              </a:rPr>
              <a:t>Compute scores A and B for every window</a:t>
            </a:r>
            <a:endParaRPr lang="en-US" sz="1200" dirty="0"/>
          </a:p>
        </p:txBody>
      </p:sp>
      <p:sp>
        <p:nvSpPr>
          <p:cNvPr id="13" name="Step 3"/>
          <p:cNvSpPr/>
          <p:nvPr/>
        </p:nvSpPr>
        <p:spPr>
          <a:xfrm>
            <a:off x="3822192" y="1188720"/>
            <a:ext cx="1517904" cy="2148840"/>
          </a:xfrm>
          <a:prstGeom prst="roundRect">
            <a:avLst>
              <a:gd name="adj" fmla="val 4819"/>
            </a:avLst>
          </a:prstGeom>
          <a:solidFill>
            <a:srgbClr val="1A2836"/>
          </a:solidFill>
          <a:ln/>
        </p:spPr>
      </p:sp>
      <p:sp>
        <p:nvSpPr>
          <p:cNvPr id="14" name="Step badge 3"/>
          <p:cNvSpPr/>
          <p:nvPr/>
        </p:nvSpPr>
        <p:spPr>
          <a:xfrm>
            <a:off x="4306824" y="1371600"/>
            <a:ext cx="548640" cy="548640"/>
          </a:xfrm>
          <a:prstGeom prst="ellipse">
            <a:avLst/>
          </a:prstGeom>
          <a:solidFill>
            <a:srgbClr val="00BFA6"/>
          </a:solidFill>
          <a:ln/>
        </p:spPr>
      </p:sp>
      <p:sp>
        <p:nvSpPr>
          <p:cNvPr id="15" name="Text 13"/>
          <p:cNvSpPr txBox="1"/>
          <p:nvPr/>
        </p:nvSpPr>
        <p:spPr>
          <a:xfrm>
            <a:off x="4306824" y="1371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6" name="Text 14"/>
          <p:cNvSpPr txBox="1"/>
          <p:nvPr/>
        </p:nvSpPr>
        <p:spPr>
          <a:xfrm>
            <a:off x="3931920" y="2057400"/>
            <a:ext cx="1298448" cy="365760"/>
          </a:xfrm>
          <a:prstGeom prst="rect">
            <a:avLst/>
          </a:prstGeom>
          <a:noFill/>
          <a:ln/>
        </p:spPr>
        <p:txBody>
          <a:bodyPr wrap="square" lIns="0" tIns="0" rIns="0" bIns="0" rtlCol="0" anchor="ctr"/>
          <a:lstStyle/>
          <a:p>
            <a:pPr algn="ctr" indent="0" marL="0">
              <a:buNone/>
            </a:pPr>
            <a:r>
              <a:rPr lang="en-US" sz="1500" b="1" dirty="0">
                <a:solidFill>
                  <a:schemeClr val="bg1"/>
                </a:solidFill>
              </a:rPr>
              <a:t>Check</a:t>
            </a:r>
            <a:endParaRPr lang="en-US" sz="1500" dirty="0"/>
          </a:p>
        </p:txBody>
      </p:sp>
      <p:sp>
        <p:nvSpPr>
          <p:cNvPr id="17" name="Text 15"/>
          <p:cNvSpPr txBox="1"/>
          <p:nvPr/>
        </p:nvSpPr>
        <p:spPr>
          <a:xfrm>
            <a:off x="3931920" y="2468880"/>
            <a:ext cx="1298448" cy="822960"/>
          </a:xfrm>
          <a:prstGeom prst="rect">
            <a:avLst/>
          </a:prstGeom>
          <a:noFill/>
          <a:ln/>
        </p:spPr>
        <p:txBody>
          <a:bodyPr wrap="square" lIns="0" tIns="0" rIns="0" bIns="0" rtlCol="0" anchor="t"/>
          <a:lstStyle/>
          <a:p>
            <a:pPr algn="ctr" indent="0" marL="0">
              <a:buNone/>
            </a:pPr>
            <a:r>
              <a:rPr lang="en-US" sz="1200" dirty="0">
                <a:solidFill>
                  <a:schemeClr val="bg2"/>
                </a:solidFill>
              </a:rPr>
              <a:t>Stress vs calm moments within each person (AUC)</a:t>
            </a:r>
            <a:endParaRPr lang="en-US" sz="1200" dirty="0"/>
          </a:p>
        </p:txBody>
      </p:sp>
      <p:sp>
        <p:nvSpPr>
          <p:cNvPr id="18" name="Step 4"/>
          <p:cNvSpPr/>
          <p:nvPr/>
        </p:nvSpPr>
        <p:spPr>
          <a:xfrm>
            <a:off x="5504688" y="1188720"/>
            <a:ext cx="1517904" cy="2148840"/>
          </a:xfrm>
          <a:prstGeom prst="roundRect">
            <a:avLst>
              <a:gd name="adj" fmla="val 4819"/>
            </a:avLst>
          </a:prstGeom>
          <a:solidFill>
            <a:srgbClr val="1A2836"/>
          </a:solidFill>
          <a:ln/>
        </p:spPr>
      </p:sp>
      <p:sp>
        <p:nvSpPr>
          <p:cNvPr id="19" name="Step badge 4"/>
          <p:cNvSpPr/>
          <p:nvPr/>
        </p:nvSpPr>
        <p:spPr>
          <a:xfrm>
            <a:off x="5989320" y="1371600"/>
            <a:ext cx="548640" cy="548640"/>
          </a:xfrm>
          <a:prstGeom prst="ellipse">
            <a:avLst/>
          </a:prstGeom>
          <a:solidFill>
            <a:srgbClr val="00BFA6"/>
          </a:solidFill>
          <a:ln/>
        </p:spPr>
      </p:sp>
      <p:sp>
        <p:nvSpPr>
          <p:cNvPr id="20" name="Text 18"/>
          <p:cNvSpPr txBox="1"/>
          <p:nvPr/>
        </p:nvSpPr>
        <p:spPr>
          <a:xfrm>
            <a:off x="5989320" y="1371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21" name="Text 19"/>
          <p:cNvSpPr txBox="1"/>
          <p:nvPr/>
        </p:nvSpPr>
        <p:spPr>
          <a:xfrm>
            <a:off x="5614416" y="2057400"/>
            <a:ext cx="1298448" cy="365760"/>
          </a:xfrm>
          <a:prstGeom prst="rect">
            <a:avLst/>
          </a:prstGeom>
          <a:noFill/>
          <a:ln/>
        </p:spPr>
        <p:txBody>
          <a:bodyPr wrap="square" lIns="0" tIns="0" rIns="0" bIns="0" rtlCol="0" anchor="ctr"/>
          <a:lstStyle/>
          <a:p>
            <a:pPr algn="ctr" indent="0" marL="0">
              <a:buNone/>
            </a:pPr>
            <a:r>
              <a:rPr lang="en-US" sz="1500" b="1" dirty="0">
                <a:solidFill>
                  <a:schemeClr val="bg1"/>
                </a:solidFill>
              </a:rPr>
              <a:t>Learn</a:t>
            </a:r>
            <a:endParaRPr lang="en-US" sz="1500" dirty="0"/>
          </a:p>
        </p:txBody>
      </p:sp>
      <p:sp>
        <p:nvSpPr>
          <p:cNvPr id="22" name="Text 20"/>
          <p:cNvSpPr txBox="1"/>
          <p:nvPr/>
        </p:nvSpPr>
        <p:spPr>
          <a:xfrm>
            <a:off x="5614416" y="2468880"/>
            <a:ext cx="1298448" cy="822960"/>
          </a:xfrm>
          <a:prstGeom prst="rect">
            <a:avLst/>
          </a:prstGeom>
          <a:noFill/>
          <a:ln/>
        </p:spPr>
        <p:txBody>
          <a:bodyPr wrap="square" lIns="0" tIns="0" rIns="0" bIns="0" rtlCol="0" anchor="t"/>
          <a:lstStyle/>
          <a:p>
            <a:pPr algn="ctr" indent="0" marL="0">
              <a:buNone/>
            </a:pPr>
            <a:r>
              <a:rPr lang="en-US" sz="1200" dirty="0">
                <a:solidFill>
                  <a:schemeClr val="bg2"/>
                </a:solidFill>
              </a:rPr>
              <a:t>Train on some datasets, test on unseen ones</a:t>
            </a:r>
            <a:endParaRPr lang="en-US" sz="1200" dirty="0"/>
          </a:p>
        </p:txBody>
      </p:sp>
      <p:sp>
        <p:nvSpPr>
          <p:cNvPr id="23" name="Step 5"/>
          <p:cNvSpPr/>
          <p:nvPr/>
        </p:nvSpPr>
        <p:spPr>
          <a:xfrm>
            <a:off x="7187184" y="1188720"/>
            <a:ext cx="1517904" cy="2148840"/>
          </a:xfrm>
          <a:prstGeom prst="roundRect">
            <a:avLst>
              <a:gd name="adj" fmla="val 4819"/>
            </a:avLst>
          </a:prstGeom>
          <a:solidFill>
            <a:srgbClr val="1A2836"/>
          </a:solidFill>
          <a:ln/>
        </p:spPr>
      </p:sp>
      <p:sp>
        <p:nvSpPr>
          <p:cNvPr id="24" name="Step badge 5"/>
          <p:cNvSpPr/>
          <p:nvPr/>
        </p:nvSpPr>
        <p:spPr>
          <a:xfrm>
            <a:off x="7671816" y="1371600"/>
            <a:ext cx="548640" cy="548640"/>
          </a:xfrm>
          <a:prstGeom prst="ellipse">
            <a:avLst/>
          </a:prstGeom>
          <a:solidFill>
            <a:srgbClr val="E59A4C"/>
          </a:solidFill>
          <a:ln/>
        </p:spPr>
      </p:sp>
      <p:sp>
        <p:nvSpPr>
          <p:cNvPr id="25" name="Text 23"/>
          <p:cNvSpPr txBox="1"/>
          <p:nvPr/>
        </p:nvSpPr>
        <p:spPr>
          <a:xfrm>
            <a:off x="7671816" y="1371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5</a:t>
            </a:r>
            <a:endParaRPr lang="en-US" sz="2000" dirty="0"/>
          </a:p>
        </p:txBody>
      </p:sp>
      <p:sp>
        <p:nvSpPr>
          <p:cNvPr id="26" name="Text 24"/>
          <p:cNvSpPr txBox="1"/>
          <p:nvPr/>
        </p:nvSpPr>
        <p:spPr>
          <a:xfrm>
            <a:off x="7296912" y="2057400"/>
            <a:ext cx="1298448" cy="365760"/>
          </a:xfrm>
          <a:prstGeom prst="rect">
            <a:avLst/>
          </a:prstGeom>
          <a:noFill/>
          <a:ln/>
        </p:spPr>
        <p:txBody>
          <a:bodyPr wrap="square" lIns="0" tIns="0" rIns="0" bIns="0" rtlCol="0" anchor="ctr"/>
          <a:lstStyle/>
          <a:p>
            <a:pPr algn="ctr" indent="0" marL="0">
              <a:buNone/>
            </a:pPr>
            <a:r>
              <a:rPr lang="en-US" sz="1500" b="1" dirty="0">
                <a:solidFill>
                  <a:schemeClr val="bg1"/>
                </a:solidFill>
              </a:rPr>
              <a:t>Final test</a:t>
            </a:r>
            <a:endParaRPr lang="en-US" sz="1500" dirty="0"/>
          </a:p>
        </p:txBody>
      </p:sp>
      <p:sp>
        <p:nvSpPr>
          <p:cNvPr id="27" name="Text 25"/>
          <p:cNvSpPr txBox="1"/>
          <p:nvPr/>
        </p:nvSpPr>
        <p:spPr>
          <a:xfrm>
            <a:off x="7296912" y="2468880"/>
            <a:ext cx="1298448" cy="822960"/>
          </a:xfrm>
          <a:prstGeom prst="rect">
            <a:avLst/>
          </a:prstGeom>
          <a:noFill/>
          <a:ln/>
        </p:spPr>
        <p:txBody>
          <a:bodyPr wrap="square" lIns="0" tIns="0" rIns="0" bIns="0" rtlCol="0" anchor="t"/>
          <a:lstStyle/>
          <a:p>
            <a:pPr algn="ctr" indent="0" marL="0">
              <a:buNone/>
            </a:pPr>
            <a:r>
              <a:rPr lang="en-US" sz="1200" dirty="0">
                <a:solidFill>
                  <a:schemeClr val="bg2"/>
                </a:solidFill>
              </a:rPr>
              <a:t>Nurse + ADARP kept untouched until the end</a:t>
            </a:r>
            <a:endParaRPr lang="en-US" sz="1200" dirty="0"/>
          </a:p>
        </p:txBody>
      </p:sp>
      <p:sp>
        <p:nvSpPr>
          <p:cNvPr id="28" name="Text 26"/>
          <p:cNvSpPr txBox="1"/>
          <p:nvPr/>
        </p:nvSpPr>
        <p:spPr>
          <a:xfrm>
            <a:off x="457200" y="3657600"/>
            <a:ext cx="8229600" cy="365760"/>
          </a:xfrm>
          <a:prstGeom prst="rect">
            <a:avLst/>
          </a:prstGeom>
          <a:noFill/>
          <a:ln/>
        </p:spPr>
        <p:txBody>
          <a:bodyPr wrap="square" lIns="0" tIns="0" rIns="0" bIns="0" rtlCol="0" anchor="ctr"/>
          <a:lstStyle/>
          <a:p>
            <a:pPr indent="0" marL="0">
              <a:buNone/>
            </a:pPr>
            <a:r>
              <a:rPr lang="en-US" sz="1400" dirty="0">
                <a:solidFill>
                  <a:schemeClr val="bg1"/>
                </a:solidFill>
              </a:rPr>
              <a:t>The same pipeline then runs on ZU-PWD, using sleep and activity as checks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Keeping the results honest</a:t>
            </a:r>
            <a:endParaRPr lang="en-US" sz="3000" dirty="0"/>
          </a:p>
        </p:txBody>
      </p:sp>
      <p:sp>
        <p:nvSpPr>
          <p:cNvPr id="3" name="Held-out datasets card"/>
          <p:cNvSpPr/>
          <p:nvPr/>
        </p:nvSpPr>
        <p:spPr>
          <a:xfrm>
            <a:off x="457200" y="1188720"/>
            <a:ext cx="4023360" cy="1371600"/>
          </a:xfrm>
          <a:prstGeom prst="roundRect">
            <a:avLst>
              <a:gd name="adj" fmla="val 5333"/>
            </a:avLst>
          </a:prstGeom>
          <a:solidFill>
            <a:srgbClr val="1A2836"/>
          </a:solidFill>
          <a:ln/>
        </p:spPr>
      </p:sp>
      <p:sp>
        <p:nvSpPr>
          <p:cNvPr id="4" name="Held-out datasets circle"/>
          <p:cNvSpPr/>
          <p:nvPr/>
        </p:nvSpPr>
        <p:spPr>
          <a:xfrm>
            <a:off x="685800" y="1508760"/>
            <a:ext cx="685800" cy="685800"/>
          </a:xfrm>
          <a:prstGeom prst="ellipse">
            <a:avLst/>
          </a:prstGeom>
          <a:solidFill>
            <a:srgbClr val="00BFA6"/>
          </a:solidFill>
          <a:ln/>
        </p:spPr>
      </p:sp>
      <p:pic>
        <p:nvPicPr>
          <p:cNvPr id="5" name="Held-out datasets icon" descr="Held-out datasets">    </p:cNvPr>
          <p:cNvPicPr>
            <a:picLocks noChangeAspect="1"/>
          </p:cNvPicPr>
          <p:nvPr/>
        </p:nvPicPr>
        <p:blipFill>
          <a:blip r:embed="rId1"/>
          <a:stretch>
            <a:fillRect/>
          </a:stretch>
        </p:blipFill>
        <p:spPr>
          <a:xfrm>
            <a:off x="836676" y="1659636"/>
            <a:ext cx="384048" cy="384048"/>
          </a:xfrm>
          <a:prstGeom prst="rect">
            <a:avLst/>
          </a:prstGeom>
        </p:spPr>
      </p:pic>
      <p:sp>
        <p:nvSpPr>
          <p:cNvPr id="6" name="Text 3"/>
          <p:cNvSpPr txBox="1"/>
          <p:nvPr/>
        </p:nvSpPr>
        <p:spPr>
          <a:xfrm>
            <a:off x="1554480" y="13716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Held-out datasets</a:t>
            </a:r>
            <a:endParaRPr lang="en-US" sz="1600" dirty="0"/>
          </a:p>
        </p:txBody>
      </p:sp>
      <p:sp>
        <p:nvSpPr>
          <p:cNvPr id="7" name="Text 4"/>
          <p:cNvSpPr txBox="1"/>
          <p:nvPr/>
        </p:nvSpPr>
        <p:spPr>
          <a:xfrm>
            <a:off x="1554480" y="1737360"/>
            <a:ext cx="2743200" cy="731520"/>
          </a:xfrm>
          <a:prstGeom prst="rect">
            <a:avLst/>
          </a:prstGeom>
          <a:noFill/>
          <a:ln/>
        </p:spPr>
        <p:txBody>
          <a:bodyPr wrap="square" lIns="0" tIns="0" rIns="0" bIns="0" rtlCol="0" anchor="t"/>
          <a:lstStyle/>
          <a:p>
            <a:pPr indent="0" marL="0">
              <a:buNone/>
            </a:pPr>
            <a:r>
              <a:rPr lang="en-US" sz="1200" dirty="0">
                <a:solidFill>
                  <a:schemeClr val="bg2"/>
                </a:solidFill>
              </a:rPr>
              <a:t>Nurse and ADARP are only used once, after everything else is fixed</a:t>
            </a:r>
            <a:endParaRPr lang="en-US" sz="1200" dirty="0"/>
          </a:p>
        </p:txBody>
      </p:sp>
      <p:sp>
        <p:nvSpPr>
          <p:cNvPr id="8" name="Fair baselines card"/>
          <p:cNvSpPr/>
          <p:nvPr/>
        </p:nvSpPr>
        <p:spPr>
          <a:xfrm>
            <a:off x="4663440" y="1188720"/>
            <a:ext cx="4023360" cy="1371600"/>
          </a:xfrm>
          <a:prstGeom prst="roundRect">
            <a:avLst>
              <a:gd name="adj" fmla="val 5333"/>
            </a:avLst>
          </a:prstGeom>
          <a:solidFill>
            <a:srgbClr val="1A2836"/>
          </a:solidFill>
          <a:ln/>
        </p:spPr>
      </p:sp>
      <p:sp>
        <p:nvSpPr>
          <p:cNvPr id="9" name="Fair baselines circle"/>
          <p:cNvSpPr/>
          <p:nvPr/>
        </p:nvSpPr>
        <p:spPr>
          <a:xfrm>
            <a:off x="4892040" y="1508760"/>
            <a:ext cx="685800" cy="685800"/>
          </a:xfrm>
          <a:prstGeom prst="ellipse">
            <a:avLst/>
          </a:prstGeom>
          <a:solidFill>
            <a:srgbClr val="00BFA6"/>
          </a:solidFill>
          <a:ln/>
        </p:spPr>
      </p:sp>
      <p:pic>
        <p:nvPicPr>
          <p:cNvPr id="10" name="Fair baselines icon" descr="Fair baselines">    </p:cNvPr>
          <p:cNvPicPr>
            <a:picLocks noChangeAspect="1"/>
          </p:cNvPicPr>
          <p:nvPr/>
        </p:nvPicPr>
        <p:blipFill>
          <a:blip r:embed="rId2"/>
          <a:stretch>
            <a:fillRect/>
          </a:stretch>
        </p:blipFill>
        <p:spPr>
          <a:xfrm>
            <a:off x="5042916" y="1659636"/>
            <a:ext cx="384048" cy="384048"/>
          </a:xfrm>
          <a:prstGeom prst="rect">
            <a:avLst/>
          </a:prstGeom>
        </p:spPr>
      </p:pic>
      <p:sp>
        <p:nvSpPr>
          <p:cNvPr id="11" name="Text 7"/>
          <p:cNvSpPr txBox="1"/>
          <p:nvPr/>
        </p:nvSpPr>
        <p:spPr>
          <a:xfrm>
            <a:off x="5760720" y="13716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Fair baselines</a:t>
            </a:r>
            <a:endParaRPr lang="en-US" sz="1600" dirty="0"/>
          </a:p>
        </p:txBody>
      </p:sp>
      <p:sp>
        <p:nvSpPr>
          <p:cNvPr id="12" name="Text 8"/>
          <p:cNvSpPr txBox="1"/>
          <p:nvPr/>
        </p:nvSpPr>
        <p:spPr>
          <a:xfrm>
            <a:off x="5760720" y="1737360"/>
            <a:ext cx="2743200" cy="731520"/>
          </a:xfrm>
          <a:prstGeom prst="rect">
            <a:avLst/>
          </a:prstGeom>
          <a:noFill/>
          <a:ln/>
        </p:spPr>
        <p:txBody>
          <a:bodyPr wrap="square" lIns="0" tIns="0" rIns="0" bIns="0" rtlCol="0" anchor="t"/>
          <a:lstStyle/>
          <a:p>
            <a:pPr indent="0" marL="0">
              <a:buNone/>
            </a:pPr>
            <a:r>
              <a:rPr lang="en-US" sz="1200" dirty="0">
                <a:solidFill>
                  <a:schemeClr val="bg2"/>
                </a:solidFill>
              </a:rPr>
              <a:t>Compare against plain signal values and a PWI-style weighted average</a:t>
            </a:r>
            <a:endParaRPr lang="en-US" sz="1200" dirty="0"/>
          </a:p>
        </p:txBody>
      </p:sp>
      <p:sp>
        <p:nvSpPr>
          <p:cNvPr id="13" name="Exercise check card"/>
          <p:cNvSpPr/>
          <p:nvPr/>
        </p:nvSpPr>
        <p:spPr>
          <a:xfrm>
            <a:off x="457200" y="2788920"/>
            <a:ext cx="4023360" cy="1371600"/>
          </a:xfrm>
          <a:prstGeom prst="roundRect">
            <a:avLst>
              <a:gd name="adj" fmla="val 5333"/>
            </a:avLst>
          </a:prstGeom>
          <a:solidFill>
            <a:srgbClr val="1A2836"/>
          </a:solidFill>
          <a:ln/>
        </p:spPr>
      </p:sp>
      <p:sp>
        <p:nvSpPr>
          <p:cNvPr id="14" name="Exercise check circle"/>
          <p:cNvSpPr/>
          <p:nvPr/>
        </p:nvSpPr>
        <p:spPr>
          <a:xfrm>
            <a:off x="685800" y="3108960"/>
            <a:ext cx="685800" cy="685800"/>
          </a:xfrm>
          <a:prstGeom prst="ellipse">
            <a:avLst/>
          </a:prstGeom>
          <a:solidFill>
            <a:srgbClr val="00BFA6"/>
          </a:solidFill>
          <a:ln/>
        </p:spPr>
      </p:sp>
      <p:pic>
        <p:nvPicPr>
          <p:cNvPr id="15" name="Exercise check icon" descr="Exercise check">    </p:cNvPr>
          <p:cNvPicPr>
            <a:picLocks noChangeAspect="1"/>
          </p:cNvPicPr>
          <p:nvPr/>
        </p:nvPicPr>
        <p:blipFill>
          <a:blip r:embed="rId3"/>
          <a:stretch>
            <a:fillRect/>
          </a:stretch>
        </p:blipFill>
        <p:spPr>
          <a:xfrm>
            <a:off x="836676" y="3259836"/>
            <a:ext cx="384048" cy="384048"/>
          </a:xfrm>
          <a:prstGeom prst="rect">
            <a:avLst/>
          </a:prstGeom>
        </p:spPr>
      </p:pic>
      <p:sp>
        <p:nvSpPr>
          <p:cNvPr id="16" name="Text 11"/>
          <p:cNvSpPr txBox="1"/>
          <p:nvPr/>
        </p:nvSpPr>
        <p:spPr>
          <a:xfrm>
            <a:off x="1554480" y="29718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Exercise check</a:t>
            </a:r>
            <a:endParaRPr lang="en-US" sz="1600" dirty="0"/>
          </a:p>
        </p:txBody>
      </p:sp>
      <p:sp>
        <p:nvSpPr>
          <p:cNvPr id="17" name="Text 12"/>
          <p:cNvSpPr txBox="1"/>
          <p:nvPr/>
        </p:nvSpPr>
        <p:spPr>
          <a:xfrm>
            <a:off x="1554480" y="3337560"/>
            <a:ext cx="2743200" cy="731520"/>
          </a:xfrm>
          <a:prstGeom prst="rect">
            <a:avLst/>
          </a:prstGeom>
          <a:noFill/>
          <a:ln/>
        </p:spPr>
        <p:txBody>
          <a:bodyPr wrap="square" lIns="0" tIns="0" rIns="0" bIns="0" rtlCol="0" anchor="t"/>
          <a:lstStyle/>
          <a:p>
            <a:pPr indent="0" marL="0">
              <a:buNone/>
            </a:pPr>
            <a:r>
              <a:rPr lang="en-US" sz="1200" dirty="0">
                <a:solidFill>
                  <a:schemeClr val="bg2"/>
                </a:solidFill>
              </a:rPr>
              <a:t>The stress + exercise dataset shows whether a workout is mistaken for stress</a:t>
            </a:r>
            <a:endParaRPr lang="en-US" sz="1200" dirty="0"/>
          </a:p>
        </p:txBody>
      </p:sp>
      <p:sp>
        <p:nvSpPr>
          <p:cNvPr id="18" name="Report everything card"/>
          <p:cNvSpPr/>
          <p:nvPr/>
        </p:nvSpPr>
        <p:spPr>
          <a:xfrm>
            <a:off x="4663440" y="2788920"/>
            <a:ext cx="4023360" cy="1371600"/>
          </a:xfrm>
          <a:prstGeom prst="roundRect">
            <a:avLst>
              <a:gd name="adj" fmla="val 5333"/>
            </a:avLst>
          </a:prstGeom>
          <a:solidFill>
            <a:srgbClr val="1A2836"/>
          </a:solidFill>
          <a:ln/>
        </p:spPr>
      </p:sp>
      <p:sp>
        <p:nvSpPr>
          <p:cNvPr id="19" name="Report everything circle"/>
          <p:cNvSpPr/>
          <p:nvPr/>
        </p:nvSpPr>
        <p:spPr>
          <a:xfrm>
            <a:off x="4892040" y="3108960"/>
            <a:ext cx="685800" cy="685800"/>
          </a:xfrm>
          <a:prstGeom prst="ellipse">
            <a:avLst/>
          </a:prstGeom>
          <a:solidFill>
            <a:srgbClr val="00BFA6"/>
          </a:solidFill>
          <a:ln/>
        </p:spPr>
      </p:sp>
      <p:pic>
        <p:nvPicPr>
          <p:cNvPr id="20" name="Report everything icon" descr="Report everything">    </p:cNvPr>
          <p:cNvPicPr>
            <a:picLocks noChangeAspect="1"/>
          </p:cNvPicPr>
          <p:nvPr/>
        </p:nvPicPr>
        <p:blipFill>
          <a:blip r:embed="rId4"/>
          <a:stretch>
            <a:fillRect/>
          </a:stretch>
        </p:blipFill>
        <p:spPr>
          <a:xfrm>
            <a:off x="5042916" y="3259836"/>
            <a:ext cx="384048" cy="384048"/>
          </a:xfrm>
          <a:prstGeom prst="rect">
            <a:avLst/>
          </a:prstGeom>
        </p:spPr>
      </p:pic>
      <p:sp>
        <p:nvSpPr>
          <p:cNvPr id="21" name="Text 15"/>
          <p:cNvSpPr txBox="1"/>
          <p:nvPr/>
        </p:nvSpPr>
        <p:spPr>
          <a:xfrm>
            <a:off x="5760720" y="29718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Report everything</a:t>
            </a:r>
            <a:endParaRPr lang="en-US" sz="1600" dirty="0"/>
          </a:p>
        </p:txBody>
      </p:sp>
      <p:sp>
        <p:nvSpPr>
          <p:cNvPr id="22" name="Text 16"/>
          <p:cNvSpPr txBox="1"/>
          <p:nvPr/>
        </p:nvSpPr>
        <p:spPr>
          <a:xfrm>
            <a:off x="5760720" y="3337560"/>
            <a:ext cx="2743200" cy="731520"/>
          </a:xfrm>
          <a:prstGeom prst="rect">
            <a:avLst/>
          </a:prstGeom>
          <a:noFill/>
          <a:ln/>
        </p:spPr>
        <p:txBody>
          <a:bodyPr wrap="square" lIns="0" tIns="0" rIns="0" bIns="0" rtlCol="0" anchor="t"/>
          <a:lstStyle/>
          <a:p>
            <a:pPr indent="0" marL="0">
              <a:buNone/>
            </a:pPr>
            <a:r>
              <a:rPr lang="en-US" sz="1200" dirty="0">
                <a:solidFill>
                  <a:schemeClr val="bg2"/>
                </a:solidFill>
              </a:rPr>
              <a:t>Every dataset and every comparison is reported, including what doesn't work</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BodySync">
  <a:themeElements>
    <a:clrScheme name="BodySync">
      <a:dk1>
        <a:srgbClr val="0F1923"/>
      </a:dk1>
      <a:lt1>
        <a:srgbClr val="F0F4F8"/>
      </a:lt1>
      <a:dk2>
        <a:srgbClr val="1A2836"/>
      </a:dk2>
      <a:lt2>
        <a:srgbClr val="8899AA"/>
      </a:lt2>
      <a:accent1>
        <a:srgbClr val="00BFA6"/>
      </a:accent1>
      <a:accent2>
        <a:srgbClr val="066B60"/>
      </a:accent2>
      <a:accent3>
        <a:srgbClr val="348573"/>
      </a:accent3>
      <a:accent4>
        <a:srgbClr val="E59A4C"/>
      </a:accent4>
      <a:accent5>
        <a:srgbClr val="8B4444"/>
      </a:accent5>
      <a:accent6>
        <a:srgbClr val="F2C14E"/>
      </a:accent6>
      <a:hlink>
        <a:srgbClr val="00BFA6"/>
      </a:hlink>
      <a:folHlink>
        <a:srgbClr val="348573"/>
      </a:folHlink>
    </a:clrScheme>
    <a:fontScheme name="BodySyn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BodySync: Validation Plan</dc:title>
  <dc:subject>PptxGenJS Presentation</dc:subject>
  <dc:creator>PptxGenJS</dc:creator>
  <cp:lastModifiedBy>PptxGenJS</cp:lastModifiedBy>
  <cp:revision>1</cp:revision>
  <dcterms:created xsi:type="dcterms:W3CDTF">2026-10-27T17:09:40Z</dcterms:created>
  <dcterms:modified xsi:type="dcterms:W3CDTF">2026-10-27T17:09:40Z</dcterms:modified>
</cp:coreProperties>
</file>