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Usable hours</c:v>
                </c:pt>
              </c:strCache>
            </c:strRef>
          </c:tx>
          <c:spPr>
            <a:solidFill>
              <a:srgbClr val="00BF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Sheet1!$A$2:$A$28</c:f>
              <c:multiLvlStrCache>
                <c:ptCount val="27"/>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lvl>
              </c:multiLvlStrCache>
            </c:multiLvlStrRef>
          </c:cat>
          <c:val>
            <c:numRef>
              <c:f>Sheet1!$B$2:$B$28</c:f>
              <c:numCache>
                <c:formatCode>General</c:formatCode>
                <c:ptCount val="27"/>
                <c:pt idx="0">
                  <c:v>2884</c:v>
                </c:pt>
                <c:pt idx="1">
                  <c:v>1316</c:v>
                </c:pt>
                <c:pt idx="2">
                  <c:v>425</c:v>
                </c:pt>
                <c:pt idx="3">
                  <c:v>417</c:v>
                </c:pt>
                <c:pt idx="4">
                  <c:v>404</c:v>
                </c:pt>
                <c:pt idx="5">
                  <c:v>354</c:v>
                </c:pt>
                <c:pt idx="6">
                  <c:v>311</c:v>
                </c:pt>
                <c:pt idx="7">
                  <c:v>289</c:v>
                </c:pt>
                <c:pt idx="8">
                  <c:v>268</c:v>
                </c:pt>
                <c:pt idx="9">
                  <c:v>260</c:v>
                </c:pt>
                <c:pt idx="10">
                  <c:v>252</c:v>
                </c:pt>
                <c:pt idx="11">
                  <c:v>129</c:v>
                </c:pt>
                <c:pt idx="12">
                  <c:v>113</c:v>
                </c:pt>
                <c:pt idx="13">
                  <c:v>110</c:v>
                </c:pt>
                <c:pt idx="14">
                  <c:v>105</c:v>
                </c:pt>
                <c:pt idx="15">
                  <c:v>102</c:v>
                </c:pt>
                <c:pt idx="16">
                  <c:v>91</c:v>
                </c:pt>
                <c:pt idx="17">
                  <c:v>91</c:v>
                </c:pt>
                <c:pt idx="18">
                  <c:v>88</c:v>
                </c:pt>
                <c:pt idx="19">
                  <c:v>88</c:v>
                </c:pt>
                <c:pt idx="20">
                  <c:v>77</c:v>
                </c:pt>
                <c:pt idx="21">
                  <c:v>72</c:v>
                </c:pt>
                <c:pt idx="22">
                  <c:v>66</c:v>
                </c:pt>
                <c:pt idx="23">
                  <c:v>25</c:v>
                </c:pt>
                <c:pt idx="24">
                  <c:v>15</c:v>
                </c:pt>
                <c:pt idx="25">
                  <c:v>13</c:v>
                </c:pt>
                <c:pt idx="26">
                  <c:v>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8899AA"/>
                </a:solidFill>
                <a:latin typeface="Calibri"/>
              </a:defRPr>
            </a:pPr>
            <a:endParaRPr lang="en-US"/>
          </a:p>
        </c:txPr>
        <c:crossAx val="2094734552"/>
        <c:crosses val="autoZero"/>
        <c:auto val="1"/>
        <c:lblAlgn val="ctr"/>
        <c:noMultiLvlLbl val="1"/>
      </c:catAx>
      <c:valAx>
        <c:axId val="2094734552"/>
        <c:scaling>
          <c:orientation val="minMax"/>
          <c:max val="3000"/>
        </c:scaling>
        <c:delete val="0"/>
        <c:axPos val="l"/>
        <c:majorGridlines>
          <c:spPr>
            <a:ln w="6350" cap="flat">
              <a:solidFill>
                <a:srgbClr val="1E304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99A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All minutes</c:v>
                </c:pt>
              </c:strCache>
            </c:strRef>
          </c:tx>
          <c:spPr>
            <a:solidFill>
              <a:srgbClr val="5A6B7F"/>
            </a:solidFill>
            <a:effectLst/>
          </c:spPr>
          <c:invertIfNegative val="0"/>
          <c:dLbls>
            <c:numFmt formatCode="0" sourceLinked="0"/>
            <c:txPr>
              <a:bodyPr/>
              <a:lstStyle/>
              <a:p>
                <a:pPr>
                  <a:defRPr b="0" i="0" strike="noStrike" sz="1000" u="none">
                    <a:solidFill>
                      <a:srgbClr val="F0F4F8"/>
                    </a:solidFill>
                    <a:latin typeface="Arial"/>
                  </a:defRPr>
                </a:pPr>
              </a:p>
            </c:txPr>
            <c:showLegendKey val="0"/>
            <c:showVal val="1"/>
            <c:showCatName val="0"/>
            <c:showSerName val="0"/>
            <c:showPercent val="0"/>
            <c:showBubbleSize val="0"/>
            <c:showLeaderLines val="0"/>
          </c:dLbls>
          <c:cat>
            <c:multiLvlStrRef>
              <c:f>Sheet1!$A$2:$A$6</c:f>
              <c:multiLvlStrCache>
                <c:ptCount val="5"/>
                <c:lvl>
                  <c:pt idx="0">
                    <c:v>Heart rate</c:v>
                  </c:pt>
                  <c:pt idx="1">
                    <c:v>HRV</c:v>
                  </c:pt>
                  <c:pt idx="2">
                    <c:v>Breathing</c:v>
                  </c:pt>
                  <c:pt idx="3">
                    <c:v>EDA (sweat)</c:v>
                  </c:pt>
                  <c:pt idx="4">
                    <c:v>Skin temp</c:v>
                  </c:pt>
                </c:lvl>
              </c:multiLvlStrCache>
            </c:multiLvlStrRef>
          </c:cat>
          <c:val>
            <c:numRef>
              <c:f>Sheet1!$B$2:$B$6</c:f>
              <c:numCache>
                <c:formatCode>General</c:formatCode>
                <c:ptCount val="5"/>
                <c:pt idx="0">
                  <c:v>55.7</c:v>
                </c:pt>
                <c:pt idx="1">
                  <c:v>11.8</c:v>
                </c:pt>
                <c:pt idx="2">
                  <c:v>13.7</c:v>
                </c:pt>
                <c:pt idx="3">
                  <c:v>59.3</c:v>
                </c:pt>
                <c:pt idx="4">
                  <c:v>59.3</c:v>
                </c:pt>
              </c:numCache>
            </c:numRef>
          </c:val>
        </c:ser>
        <c:ser>
          <c:idx val="1"/>
          <c:order val="1"/>
          <c:tx>
            <c:strRef>
              <c:f>Sheet1!$C$1</c:f>
              <c:strCache>
                <c:ptCount val="1"/>
                <c:pt idx="0">
                  <c:v>When the watch was worn</c:v>
                </c:pt>
              </c:strCache>
            </c:strRef>
          </c:tx>
          <c:spPr>
            <a:solidFill>
              <a:srgbClr val="00BFA6"/>
            </a:solidFill>
            <a:effectLst/>
          </c:spPr>
          <c:invertIfNegative val="0"/>
          <c:dLbls>
            <c:numFmt formatCode="0" sourceLinked="0"/>
            <c:txPr>
              <a:bodyPr/>
              <a:lstStyle/>
              <a:p>
                <a:pPr>
                  <a:defRPr b="0" i="0" strike="noStrike" sz="1000" u="none">
                    <a:solidFill>
                      <a:srgbClr val="F0F4F8"/>
                    </a:solidFill>
                    <a:latin typeface="Arial"/>
                  </a:defRPr>
                </a:pPr>
              </a:p>
            </c:txPr>
            <c:showLegendKey val="0"/>
            <c:showVal val="1"/>
            <c:showCatName val="0"/>
            <c:showSerName val="0"/>
            <c:showPercent val="0"/>
            <c:showBubbleSize val="0"/>
            <c:showLeaderLines val="0"/>
          </c:dLbls>
          <c:cat>
            <c:multiLvlStrRef>
              <c:f>Sheet1!$A$2:$A$6</c:f>
              <c:multiLvlStrCache>
                <c:ptCount val="5"/>
                <c:lvl>
                  <c:pt idx="0">
                    <c:v>Heart rate</c:v>
                  </c:pt>
                  <c:pt idx="1">
                    <c:v>HRV</c:v>
                  </c:pt>
                  <c:pt idx="2">
                    <c:v>Breathing</c:v>
                  </c:pt>
                  <c:pt idx="3">
                    <c:v>EDA (sweat)</c:v>
                  </c:pt>
                  <c:pt idx="4">
                    <c:v>Skin temp</c:v>
                  </c:pt>
                </c:lvl>
              </c:multiLvlStrCache>
            </c:multiLvlStrRef>
          </c:cat>
          <c:val>
            <c:numRef>
              <c:f>Sheet1!$C$2:$C$6</c:f>
              <c:numCache>
                <c:formatCode>General</c:formatCode>
                <c:ptCount val="5"/>
                <c:pt idx="0">
                  <c:v>93.9</c:v>
                </c:pt>
                <c:pt idx="1">
                  <c:v>19.9</c:v>
                </c:pt>
                <c:pt idx="2">
                  <c:v>23.1</c:v>
                </c:pt>
                <c:pt idx="3">
                  <c:v>100</c:v>
                </c:pt>
                <c:pt idx="4">
                  <c:v>100</c:v>
                </c:pt>
              </c:numCache>
            </c:numRef>
          </c:val>
        </c:ser>
        <c:dLbls>
          <c:numFmt formatCode="0" sourceLinked="0"/>
          <c:txPr>
            <a:bodyPr/>
            <a:lstStyle/>
            <a:p>
              <a:pPr>
                <a:defRPr b="0" i="0" strike="noStrike" sz="1000" u="none">
                  <a:solidFill>
                    <a:srgbClr val="F0F4F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8899AA"/>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8899A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what already exists on this dataset, and whether the data can support our plan. Short version: a simpler index exists, and the data works once we scope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dataset's own authors built a wellness score: a weighted average of HRV, breathing rate and EDA, from 0 to 100. The weights are hand-tuned and they only checked a few example days. Separately, a GitHub project tried ML stress prediction on this data and got chance-level results, because there are too few stress ratings.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differences. They average levels; we check whether signals move together. Their weights are hand-tuned; ours are learned. They show example days; we test on unseen people. They can't tell exercise from stress; we use activity-aware baselines. Their paper lists this as future work, and network physiology backs the idea, but only in the lab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normally paid-only, but co-author Salman Bukhari posted a free copy on GitHub, without the stress ratings. It has 901K minute rows from 27 people. 15 months is the whole study: each person has about 22 days, with about 7 usable hours a day. Two long-term people hold half the data, so we also report results per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watch is worn, heart rate, sweat and temperature are almost always there. HRV and breathing rate aren't, because the watch only measures them when the wrist is still: about 70% of the time asleep, under 5% awake. So the sync score uses three signals. A sleep-only analysis could use all five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Rolling correlations need unbroken data. Half the usable minutes sit in stretches of 6 hours or more, so 1 h and 6 h windows work; 24 h doesn't. EDA is often near the sensor floor and needs filtering. 40.7% of rows are empty padding, which we filter out. There are no duplicate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Clean the data, build the sync features with rolling correlations, train Random Forest and XGBoost, test on people the model hasn't seen, and use SHAP to show which features matter. The key question is whether coupling features beat plain signal values; if they do, we've shown something PWI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Viable with a revised scope: three signals, 1 h and 6 h windows, a realistic duration, and sleep and activity states as ground truth. The ML test is whether coupling features classify state better than plain levels, which directly tests whether we add anything over PWI. Next step: cleaning and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p:bgPr>
    </p:bg>
    <p:spTree>
      <p:nvGrpSpPr>
        <p:cNvPr id="1" name=""/>
        <p:cNvGrpSpPr/>
        <p:nvPr/>
      </p:nvGrpSpPr>
      <p:grpSpPr>
        <a:xfrm>
          <a:off x="0" y="0"/>
          <a:ext cx="0" cy="0"/>
          <a:chOff x="0" y="0"/>
          <a:chExt cx="0" cy="0"/>
        </a:xfrm>
      </p:grpSpPr>
      <p:sp>
        <p:nvSpPr>
          <p:cNvPr id="2" name="Text 0"/>
          <p:cNvSpPr txBox="1"/>
          <p:nvPr/>
        </p:nvSpPr>
        <p:spPr>
          <a:xfrm>
            <a:off x="548640" y="1417320"/>
            <a:ext cx="6400800" cy="868680"/>
          </a:xfrm>
          <a:prstGeom prst="rect">
            <a:avLst/>
          </a:prstGeom>
          <a:noFill/>
          <a:ln/>
        </p:spPr>
        <p:txBody>
          <a:bodyPr wrap="square" lIns="0" tIns="0" rIns="0" bIns="0" rtlCol="0" anchor="t"/>
          <a:lstStyle/>
          <a:p>
            <a:pPr indent="0" marL="0">
              <a:buNone/>
            </a:pPr>
            <a:r>
              <a:rPr lang="en-US" sz="5400" b="1" dirty="0">
                <a:solidFill>
                  <a:srgbClr val="F0F4F8"/>
                </a:solidFill>
                <a:latin typeface="Calibri" pitchFamily="34" charset="0"/>
                <a:ea typeface="Calibri" pitchFamily="34" charset="-122"/>
                <a:cs typeface="Calibri" pitchFamily="34" charset="-120"/>
              </a:rPr>
              <a:t>BodySync</a:t>
            </a:r>
            <a:endParaRPr lang="en-US" sz="5400" dirty="0"/>
          </a:p>
        </p:txBody>
      </p:sp>
      <p:sp>
        <p:nvSpPr>
          <p:cNvPr id="3" name="Text 1"/>
          <p:cNvSpPr txBox="1"/>
          <p:nvPr/>
        </p:nvSpPr>
        <p:spPr>
          <a:xfrm>
            <a:off x="548640" y="2377440"/>
            <a:ext cx="6400800" cy="457200"/>
          </a:xfrm>
          <a:prstGeom prst="rect">
            <a:avLst/>
          </a:prstGeom>
          <a:noFill/>
          <a:ln/>
        </p:spPr>
        <p:txBody>
          <a:bodyPr wrap="square" lIns="0" tIns="0" rIns="0" bIns="0" rtlCol="0" anchor="t"/>
          <a:lstStyle/>
          <a:p>
            <a:pPr indent="0" marL="0">
              <a:buNone/>
            </a:pPr>
            <a:r>
              <a:rPr lang="en-US" sz="2200" dirty="0">
                <a:solidFill>
                  <a:srgbClr val="00BFA6"/>
                </a:solidFill>
                <a:latin typeface="Calibri" pitchFamily="34" charset="0"/>
                <a:ea typeface="Calibri" pitchFamily="34" charset="-122"/>
                <a:cs typeface="Calibri" pitchFamily="34" charset="-120"/>
              </a:rPr>
              <a:t>Related Work &amp; Dataset Viability</a:t>
            </a:r>
            <a:endParaRPr lang="en-US" sz="2200" dirty="0"/>
          </a:p>
        </p:txBody>
      </p:sp>
      <p:sp>
        <p:nvSpPr>
          <p:cNvPr id="4" name="Text 2"/>
          <p:cNvSpPr txBox="1"/>
          <p:nvPr/>
        </p:nvSpPr>
        <p:spPr>
          <a:xfrm>
            <a:off x="548640" y="2971800"/>
            <a:ext cx="5943600" cy="640080"/>
          </a:xfrm>
          <a:prstGeom prst="rect">
            <a:avLst/>
          </a:prstGeom>
          <a:noFill/>
          <a:ln/>
        </p:spPr>
        <p:txBody>
          <a:bodyPr wrap="square" lIns="0" tIns="0" rIns="0" bIns="0" rtlCol="0" anchor="t"/>
          <a:lstStyle/>
          <a:p>
            <a:pPr indent="0" marL="0">
              <a:buNone/>
            </a:pPr>
            <a:r>
              <a:rPr lang="en-US" sz="1300" dirty="0">
                <a:solidFill>
                  <a:srgbClr val="8899AA"/>
                </a:solidFill>
                <a:latin typeface="Calibri" pitchFamily="34" charset="0"/>
                <a:ea typeface="Calibri" pitchFamily="34" charset="-122"/>
                <a:cs typeface="Calibri" pitchFamily="34" charset="-120"/>
              </a:rPr>
              <a:t>Who else has used this dataset, how we got it,</a:t>
            </a:r>
            <a:endParaRPr lang="en-US" sz="1300" dirty="0"/>
          </a:p>
          <a:p>
            <a:pPr indent="0" marL="0">
              <a:buNone/>
            </a:pPr>
            <a:r>
              <a:rPr lang="en-US" sz="1300" dirty="0">
                <a:solidFill>
                  <a:srgbClr val="8899AA"/>
                </a:solidFill>
                <a:latin typeface="Calibri" pitchFamily="34" charset="0"/>
                <a:ea typeface="Calibri" pitchFamily="34" charset="-122"/>
                <a:cs typeface="Calibri" pitchFamily="34" charset="-120"/>
              </a:rPr>
              <a:t>and whether it's good enough for our project</a:t>
            </a:r>
            <a:endParaRPr lang="en-US" sz="1300" dirty="0"/>
          </a:p>
        </p:txBody>
      </p:sp>
      <p:sp>
        <p:nvSpPr>
          <p:cNvPr id="5" name="Shape 3"/>
          <p:cNvSpPr/>
          <p:nvPr/>
        </p:nvSpPr>
        <p:spPr>
          <a:xfrm>
            <a:off x="6035040" y="3881628"/>
            <a:ext cx="228600" cy="553212"/>
          </a:xfrm>
          <a:prstGeom prst="rect">
            <a:avLst/>
          </a:prstGeom>
          <a:solidFill>
            <a:srgbClr val="066B60"/>
          </a:solidFill>
          <a:ln w="9525">
            <a:solidFill>
              <a:srgbClr val="2A3A44"/>
            </a:solidFill>
            <a:prstDash val="solid"/>
          </a:ln>
        </p:spPr>
      </p:sp>
      <p:sp>
        <p:nvSpPr>
          <p:cNvPr id="6" name="Shape 4"/>
          <p:cNvSpPr/>
          <p:nvPr/>
        </p:nvSpPr>
        <p:spPr>
          <a:xfrm>
            <a:off x="6355080" y="3579876"/>
            <a:ext cx="228600" cy="854964"/>
          </a:xfrm>
          <a:prstGeom prst="rect">
            <a:avLst/>
          </a:prstGeom>
          <a:solidFill>
            <a:srgbClr val="348573"/>
          </a:solidFill>
          <a:ln w="9525">
            <a:solidFill>
              <a:srgbClr val="2A3A44"/>
            </a:solidFill>
            <a:prstDash val="solid"/>
          </a:ln>
        </p:spPr>
      </p:sp>
      <p:sp>
        <p:nvSpPr>
          <p:cNvPr id="7" name="Shape 5"/>
          <p:cNvSpPr/>
          <p:nvPr/>
        </p:nvSpPr>
        <p:spPr>
          <a:xfrm>
            <a:off x="6675120" y="3328416"/>
            <a:ext cx="228600" cy="1106424"/>
          </a:xfrm>
          <a:prstGeom prst="rect">
            <a:avLst/>
          </a:prstGeom>
          <a:solidFill>
            <a:srgbClr val="066B60"/>
          </a:solidFill>
          <a:ln w="9525">
            <a:solidFill>
              <a:srgbClr val="2A3A44"/>
            </a:solidFill>
            <a:prstDash val="solid"/>
          </a:ln>
        </p:spPr>
      </p:sp>
      <p:sp>
        <p:nvSpPr>
          <p:cNvPr id="8" name="Shape 6"/>
          <p:cNvSpPr/>
          <p:nvPr/>
        </p:nvSpPr>
        <p:spPr>
          <a:xfrm>
            <a:off x="6995160" y="3730752"/>
            <a:ext cx="228600" cy="704088"/>
          </a:xfrm>
          <a:prstGeom prst="rect">
            <a:avLst/>
          </a:prstGeom>
          <a:solidFill>
            <a:srgbClr val="348573"/>
          </a:solidFill>
          <a:ln w="9525">
            <a:solidFill>
              <a:srgbClr val="2A3A44"/>
            </a:solidFill>
            <a:prstDash val="solid"/>
          </a:ln>
        </p:spPr>
      </p:sp>
      <p:sp>
        <p:nvSpPr>
          <p:cNvPr id="9" name="Shape 7"/>
          <p:cNvSpPr/>
          <p:nvPr/>
        </p:nvSpPr>
        <p:spPr>
          <a:xfrm>
            <a:off x="7315200" y="3982212"/>
            <a:ext cx="228600" cy="452628"/>
          </a:xfrm>
          <a:prstGeom prst="rect">
            <a:avLst/>
          </a:prstGeom>
          <a:solidFill>
            <a:srgbClr val="8B4444"/>
          </a:solidFill>
          <a:ln w="9525">
            <a:solidFill>
              <a:srgbClr val="2A3A44"/>
            </a:solidFill>
            <a:prstDash val="solid"/>
          </a:ln>
        </p:spPr>
      </p:sp>
      <p:sp>
        <p:nvSpPr>
          <p:cNvPr id="10" name="Shape 8"/>
          <p:cNvSpPr/>
          <p:nvPr/>
        </p:nvSpPr>
        <p:spPr>
          <a:xfrm>
            <a:off x="7635240" y="3479292"/>
            <a:ext cx="228600" cy="955548"/>
          </a:xfrm>
          <a:prstGeom prst="rect">
            <a:avLst/>
          </a:prstGeom>
          <a:solidFill>
            <a:srgbClr val="8B4444"/>
          </a:solidFill>
          <a:ln w="9525">
            <a:solidFill>
              <a:srgbClr val="2A3A44"/>
            </a:solidFill>
            <a:prstDash val="solid"/>
          </a:ln>
        </p:spPr>
      </p:sp>
      <p:sp>
        <p:nvSpPr>
          <p:cNvPr id="11" name="Shape 9"/>
          <p:cNvSpPr/>
          <p:nvPr/>
        </p:nvSpPr>
        <p:spPr>
          <a:xfrm>
            <a:off x="7955280" y="3831336"/>
            <a:ext cx="228600" cy="603504"/>
          </a:xfrm>
          <a:prstGeom prst="rect">
            <a:avLst/>
          </a:prstGeom>
          <a:solidFill>
            <a:srgbClr val="066B60"/>
          </a:solidFill>
          <a:ln w="9525">
            <a:solidFill>
              <a:srgbClr val="2A3A44"/>
            </a:solidFill>
            <a:prstDash val="solid"/>
          </a:ln>
        </p:spPr>
      </p:sp>
      <p:sp>
        <p:nvSpPr>
          <p:cNvPr id="12" name="Shape 10"/>
          <p:cNvSpPr/>
          <p:nvPr/>
        </p:nvSpPr>
        <p:spPr>
          <a:xfrm>
            <a:off x="8275320" y="3227832"/>
            <a:ext cx="228600" cy="1207008"/>
          </a:xfrm>
          <a:prstGeom prst="rect">
            <a:avLst/>
          </a:prstGeom>
          <a:solidFill>
            <a:srgbClr val="348573"/>
          </a:solidFill>
          <a:ln w="9525">
            <a:solidFill>
              <a:srgbClr val="2A3A4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923"/>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F0F4F8"/>
                </a:solidFill>
                <a:latin typeface="Calibri" pitchFamily="34" charset="0"/>
                <a:ea typeface="Calibri" pitchFamily="34" charset="-122"/>
                <a:cs typeface="Calibri" pitchFamily="34" charset="-120"/>
              </a:rPr>
              <a:t>Someone Already Built a Score on This Data</a:t>
            </a:r>
            <a:endParaRPr lang="en-US" sz="3200" dirty="0"/>
          </a:p>
        </p:txBody>
      </p:sp>
      <p:sp>
        <p:nvSpPr>
          <p:cNvPr id="3" name="Text 1"/>
          <p:cNvSpPr txBox="1"/>
          <p:nvPr/>
        </p:nvSpPr>
        <p:spPr>
          <a:xfrm>
            <a:off x="548640" y="932688"/>
            <a:ext cx="8046720" cy="365760"/>
          </a:xfrm>
          <a:prstGeom prst="rect">
            <a:avLst/>
          </a:prstGeom>
          <a:noFill/>
          <a:ln/>
        </p:spPr>
        <p:txBody>
          <a:bodyPr wrap="square" lIns="0" tIns="0" rIns="0" bIns="0" rtlCol="0" anchor="ctr"/>
          <a:lstStyle/>
          <a:p>
            <a:pPr indent="0" marL="0">
              <a:buNone/>
            </a:pPr>
            <a:r>
              <a:rPr lang="en-US" sz="1400" dirty="0">
                <a:solidFill>
                  <a:srgbClr val="8899AA"/>
                </a:solidFill>
                <a:latin typeface="Calibri" pitchFamily="34" charset="0"/>
                <a:ea typeface="Calibri" pitchFamily="34" charset="-122"/>
                <a:cs typeface="Calibri" pitchFamily="34" charset="-120"/>
              </a:rPr>
              <a:t>The Physiological Wellness Index (PWI), made by the dataset's own authors (Sharma et al., 2025)</a:t>
            </a:r>
            <a:endParaRPr lang="en-US" sz="1400" dirty="0"/>
          </a:p>
        </p:txBody>
      </p:sp>
      <p:sp>
        <p:nvSpPr>
          <p:cNvPr id="4" name="Shape 2"/>
          <p:cNvSpPr/>
          <p:nvPr/>
        </p:nvSpPr>
        <p:spPr>
          <a:xfrm>
            <a:off x="548640" y="1463040"/>
            <a:ext cx="4114800" cy="3154680"/>
          </a:xfrm>
          <a:prstGeom prst="roundRect">
            <a:avLst>
              <a:gd name="adj" fmla="val 2319"/>
            </a:avLst>
          </a:prstGeom>
          <a:solidFill>
            <a:srgbClr val="182735"/>
          </a:solidFill>
          <a:ln w="12700">
            <a:solidFill>
              <a:srgbClr val="182735"/>
            </a:solidFill>
            <a:prstDash val="solid"/>
          </a:ln>
        </p:spPr>
      </p:sp>
      <p:sp>
        <p:nvSpPr>
          <p:cNvPr id="5" name="Text 3"/>
          <p:cNvSpPr txBox="1"/>
          <p:nvPr/>
        </p:nvSpPr>
        <p:spPr>
          <a:xfrm>
            <a:off x="777240" y="1600200"/>
            <a:ext cx="3657600" cy="320040"/>
          </a:xfrm>
          <a:prstGeom prst="rect">
            <a:avLst/>
          </a:prstGeom>
          <a:noFill/>
          <a:ln/>
        </p:spPr>
        <p:txBody>
          <a:bodyPr wrap="square" lIns="0" tIns="0" rIns="0" bIns="0" rtlCol="0" anchor="t"/>
          <a:lstStyle/>
          <a:p>
            <a:pPr indent="0" marL="0">
              <a:buNone/>
            </a:pPr>
            <a:r>
              <a:rPr lang="en-US" sz="1500" b="1" dirty="0">
                <a:solidFill>
                  <a:srgbClr val="00BFA6"/>
                </a:solidFill>
                <a:latin typeface="Calibri" pitchFamily="34" charset="0"/>
                <a:ea typeface="Calibri" pitchFamily="34" charset="-122"/>
                <a:cs typeface="Calibri" pitchFamily="34" charset="-120"/>
              </a:rPr>
              <a:t>What they did</a:t>
            </a:r>
            <a:endParaRPr lang="en-US" sz="1500" dirty="0"/>
          </a:p>
        </p:txBody>
      </p:sp>
      <p:sp>
        <p:nvSpPr>
          <p:cNvPr id="6" name="Text 4"/>
          <p:cNvSpPr txBox="1"/>
          <p:nvPr/>
        </p:nvSpPr>
        <p:spPr>
          <a:xfrm>
            <a:off x="777240" y="1965960"/>
            <a:ext cx="3749040" cy="13258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0F4F8"/>
                </a:solidFill>
                <a:latin typeface="Calibri" pitchFamily="34" charset="0"/>
                <a:ea typeface="Calibri" pitchFamily="34" charset="-122"/>
                <a:cs typeface="Calibri" pitchFamily="34" charset="-120"/>
              </a:rPr>
              <a:t>Combined HRV, breathing rate and EDA (sweat)</a:t>
            </a:r>
            <a:endParaRPr lang="en-US" sz="1250" dirty="0"/>
          </a:p>
          <a:p>
            <a:pPr marL="177800" indent="-177800">
              <a:spcAft>
                <a:spcPts val="500"/>
              </a:spcAft>
              <a:buSzPct val="100000"/>
              <a:buChar char="•"/>
            </a:pPr>
            <a:r>
              <a:rPr lang="en-US" sz="1250" dirty="0">
                <a:solidFill>
                  <a:srgbClr val="F0F4F8"/>
                </a:solidFill>
                <a:latin typeface="Calibri" pitchFamily="34" charset="0"/>
                <a:ea typeface="Calibri" pitchFamily="34" charset="-122"/>
                <a:cs typeface="Calibri" pitchFamily="34" charset="-120"/>
              </a:rPr>
              <a:t>Into one wellness score from 0 to 100</a:t>
            </a:r>
            <a:endParaRPr lang="en-US" sz="1250" dirty="0"/>
          </a:p>
          <a:p>
            <a:pPr marL="177800" indent="-177800">
              <a:spcAft>
                <a:spcPts val="500"/>
              </a:spcAft>
              <a:buSzPct val="100000"/>
              <a:buChar char="•"/>
            </a:pPr>
            <a:r>
              <a:rPr lang="en-US" sz="1250" dirty="0">
                <a:solidFill>
                  <a:srgbClr val="F0F4F8"/>
                </a:solidFill>
                <a:latin typeface="Calibri" pitchFamily="34" charset="0"/>
                <a:ea typeface="Calibri" pitchFamily="34" charset="-122"/>
                <a:cs typeface="Calibri" pitchFamily="34" charset="-120"/>
              </a:rPr>
              <a:t>Bands: calm 70–100, active 40–69, stressed 0–39</a:t>
            </a:r>
            <a:endParaRPr lang="en-US" sz="1250" dirty="0"/>
          </a:p>
          <a:p>
            <a:pPr marL="177800" indent="-177800">
              <a:spcAft>
                <a:spcPts val="500"/>
              </a:spcAft>
              <a:buSzPct val="100000"/>
              <a:buChar char="•"/>
            </a:pPr>
            <a:r>
              <a:rPr lang="en-US" sz="1250" dirty="0">
                <a:solidFill>
                  <a:srgbClr val="F0F4F8"/>
                </a:solidFill>
                <a:latin typeface="Calibri" pitchFamily="34" charset="0"/>
                <a:ea typeface="Calibri" pitchFamily="34" charset="-122"/>
                <a:cs typeface="Calibri" pitchFamily="34" charset="-120"/>
              </a:rPr>
              <a:t>Checked on a few example days, no proper testing</a:t>
            </a:r>
            <a:endParaRPr lang="en-US" sz="1250" dirty="0"/>
          </a:p>
        </p:txBody>
      </p:sp>
      <p:sp>
        <p:nvSpPr>
          <p:cNvPr id="7" name="Shape 5"/>
          <p:cNvSpPr/>
          <p:nvPr/>
        </p:nvSpPr>
        <p:spPr>
          <a:xfrm>
            <a:off x="731520" y="3383280"/>
            <a:ext cx="3749040" cy="1051560"/>
          </a:xfrm>
          <a:prstGeom prst="roundRect">
            <a:avLst>
              <a:gd name="adj" fmla="val 6957"/>
            </a:avLst>
          </a:prstGeom>
          <a:solidFill>
            <a:srgbClr val="1E3044"/>
          </a:solidFill>
          <a:ln w="12700">
            <a:solidFill>
              <a:srgbClr val="1E3044"/>
            </a:solidFill>
            <a:prstDash val="solid"/>
          </a:ln>
        </p:spPr>
      </p:sp>
      <p:sp>
        <p:nvSpPr>
          <p:cNvPr id="8" name="Text 6"/>
          <p:cNvSpPr txBox="1"/>
          <p:nvPr/>
        </p:nvSpPr>
        <p:spPr>
          <a:xfrm>
            <a:off x="868680" y="3383280"/>
            <a:ext cx="3474720" cy="1051560"/>
          </a:xfrm>
          <a:prstGeom prst="rect">
            <a:avLst/>
          </a:prstGeom>
          <a:noFill/>
          <a:ln/>
        </p:spPr>
        <p:txBody>
          <a:bodyPr wrap="square" lIns="0" tIns="0" rIns="0" bIns="0" rtlCol="0" anchor="ctr"/>
          <a:lstStyle/>
          <a:p>
            <a:pPr indent="0" marL="0">
              <a:buNone/>
            </a:pPr>
            <a:r>
              <a:rPr lang="en-US" sz="1100" b="1" dirty="0">
                <a:solidFill>
                  <a:srgbClr val="00BFA6"/>
                </a:solidFill>
                <a:latin typeface="Calibri" pitchFamily="34" charset="0"/>
                <a:ea typeface="Calibri" pitchFamily="34" charset="-122"/>
                <a:cs typeface="Calibri" pitchFamily="34" charset="-120"/>
              </a:rPr>
              <a:t>Also found: </a:t>
            </a:r>
            <a:pPr indent="0" marL="0">
              <a:buNone/>
            </a:pPr>
            <a:r>
              <a:rPr lang="en-US" sz="1100" dirty="0">
                <a:solidFill>
                  <a:srgbClr val="F0F4F8"/>
                </a:solidFill>
                <a:latin typeface="Calibri" pitchFamily="34" charset="0"/>
                <a:ea typeface="Calibri" pitchFamily="34" charset="-122"/>
                <a:cs typeface="Calibri" pitchFamily="34" charset="-120"/>
              </a:rPr>
              <a:t>a GitHub project (2025) tried predicting stress on this data (XGBoost, LSTM, Transformer). Result: no better than random guessing (QWK ≤ 0), because there are too few stress ratings.</a:t>
            </a:r>
            <a:endParaRPr lang="en-US" sz="1100" dirty="0"/>
          </a:p>
        </p:txBody>
      </p:sp>
      <p:sp>
        <p:nvSpPr>
          <p:cNvPr id="9" name="Shape 7"/>
          <p:cNvSpPr/>
          <p:nvPr/>
        </p:nvSpPr>
        <p:spPr>
          <a:xfrm>
            <a:off x="4892040" y="1463040"/>
            <a:ext cx="3703320" cy="1188720"/>
          </a:xfrm>
          <a:prstGeom prst="roundRect">
            <a:avLst>
              <a:gd name="adj" fmla="val 6154"/>
            </a:avLst>
          </a:prstGeom>
          <a:solidFill>
            <a:srgbClr val="1E3044"/>
          </a:solidFill>
          <a:ln w="12700">
            <a:solidFill>
              <a:srgbClr val="1E3044"/>
            </a:solidFill>
            <a:prstDash val="solid"/>
          </a:ln>
        </p:spPr>
      </p:sp>
      <p:sp>
        <p:nvSpPr>
          <p:cNvPr id="10" name="Text 8"/>
          <p:cNvSpPr txBox="1"/>
          <p:nvPr/>
        </p:nvSpPr>
        <p:spPr>
          <a:xfrm>
            <a:off x="5120640" y="1600200"/>
            <a:ext cx="3291840" cy="274320"/>
          </a:xfrm>
          <a:prstGeom prst="rect">
            <a:avLst/>
          </a:prstGeom>
          <a:noFill/>
          <a:ln/>
        </p:spPr>
        <p:txBody>
          <a:bodyPr wrap="square" lIns="0" tIns="0" rIns="0" bIns="0" rtlCol="0" anchor="t"/>
          <a:lstStyle/>
          <a:p>
            <a:pPr indent="0" marL="0">
              <a:buNone/>
            </a:pPr>
            <a:r>
              <a:rPr lang="en-US" sz="1200" dirty="0">
                <a:solidFill>
                  <a:srgbClr val="8899AA"/>
                </a:solidFill>
                <a:latin typeface="Calibri" pitchFamily="34" charset="0"/>
                <a:ea typeface="Calibri" pitchFamily="34" charset="-122"/>
                <a:cs typeface="Calibri" pitchFamily="34" charset="-120"/>
              </a:rPr>
              <a:t>Their formula: basically a weighted average</a:t>
            </a:r>
            <a:endParaRPr lang="en-US" sz="1200" dirty="0"/>
          </a:p>
        </p:txBody>
      </p:sp>
      <p:sp>
        <p:nvSpPr>
          <p:cNvPr id="11" name="Text 9"/>
          <p:cNvSpPr txBox="1"/>
          <p:nvPr/>
        </p:nvSpPr>
        <p:spPr>
          <a:xfrm>
            <a:off x="5120640" y="1901952"/>
            <a:ext cx="3383280" cy="640080"/>
          </a:xfrm>
          <a:prstGeom prst="rect">
            <a:avLst/>
          </a:prstGeom>
          <a:noFill/>
          <a:ln/>
        </p:spPr>
        <p:txBody>
          <a:bodyPr wrap="square" lIns="0" tIns="0" rIns="0" bIns="0" rtlCol="0" anchor="t"/>
          <a:lstStyle/>
          <a:p>
            <a:pPr indent="0" marL="0">
              <a:buNone/>
            </a:pPr>
            <a:r>
              <a:rPr lang="en-US" sz="1200" dirty="0">
                <a:solidFill>
                  <a:srgbClr val="5EECC0"/>
                </a:solidFill>
                <a:latin typeface="Courier New" pitchFamily="34" charset="0"/>
                <a:ea typeface="Courier New" pitchFamily="34" charset="-122"/>
                <a:cs typeface="Courier New" pitchFamily="34" charset="-120"/>
              </a:rPr>
              <a:t>PWI = (w1·HRV + w2·RR + w3·EDA)</a:t>
            </a:r>
            <a:endParaRPr lang="en-US" sz="1200" dirty="0"/>
          </a:p>
          <a:p>
            <a:pPr indent="0" marL="0">
              <a:buNone/>
            </a:pPr>
            <a:r>
              <a:rPr lang="en-US" sz="1200" dirty="0">
                <a:solidFill>
                  <a:srgbClr val="5EECC0"/>
                </a:solidFill>
                <a:latin typeface="Courier New" pitchFamily="34" charset="0"/>
                <a:ea typeface="Courier New" pitchFamily="34" charset="-122"/>
                <a:cs typeface="Courier New" pitchFamily="34" charset="-120"/>
              </a:rPr>
              <a:t>      / (w1 + w2 + w3)</a:t>
            </a:r>
            <a:endParaRPr lang="en-US" sz="1200" dirty="0"/>
          </a:p>
        </p:txBody>
      </p:sp>
      <p:sp>
        <p:nvSpPr>
          <p:cNvPr id="12" name="Shape 10"/>
          <p:cNvSpPr/>
          <p:nvPr/>
        </p:nvSpPr>
        <p:spPr>
          <a:xfrm>
            <a:off x="4892040" y="2834640"/>
            <a:ext cx="3703320" cy="1783080"/>
          </a:xfrm>
          <a:prstGeom prst="roundRect">
            <a:avLst>
              <a:gd name="adj" fmla="val 4103"/>
            </a:avLst>
          </a:prstGeom>
          <a:solidFill>
            <a:srgbClr val="182735"/>
          </a:solidFill>
          <a:ln w="12700">
            <a:solidFill>
              <a:srgbClr val="182735"/>
            </a:solidFill>
            <a:prstDash val="solid"/>
          </a:ln>
        </p:spPr>
      </p:sp>
      <p:sp>
        <p:nvSpPr>
          <p:cNvPr id="13" name="Text 11"/>
          <p:cNvSpPr txBox="1"/>
          <p:nvPr/>
        </p:nvSpPr>
        <p:spPr>
          <a:xfrm>
            <a:off x="5120640" y="2971800"/>
            <a:ext cx="3291840" cy="274320"/>
          </a:xfrm>
          <a:prstGeom prst="rect">
            <a:avLst/>
          </a:prstGeom>
          <a:noFill/>
          <a:ln/>
        </p:spPr>
        <p:txBody>
          <a:bodyPr wrap="square" lIns="0" tIns="0" rIns="0" bIns="0" rtlCol="0" anchor="t"/>
          <a:lstStyle/>
          <a:p>
            <a:pPr indent="0" marL="0">
              <a:buNone/>
            </a:pPr>
            <a:r>
              <a:rPr lang="en-US" sz="1200" dirty="0">
                <a:solidFill>
                  <a:srgbClr val="8899AA"/>
                </a:solidFill>
                <a:latin typeface="Calibri" pitchFamily="34" charset="0"/>
                <a:ea typeface="Calibri" pitchFamily="34" charset="-122"/>
                <a:cs typeface="Calibri" pitchFamily="34" charset="-120"/>
              </a:rPr>
              <a:t>Their weights are guesswork, in their own words</a:t>
            </a:r>
            <a:endParaRPr lang="en-US" sz="1200" dirty="0"/>
          </a:p>
        </p:txBody>
      </p:sp>
      <p:sp>
        <p:nvSpPr>
          <p:cNvPr id="14" name="Text 12"/>
          <p:cNvSpPr txBox="1"/>
          <p:nvPr/>
        </p:nvSpPr>
        <p:spPr>
          <a:xfrm>
            <a:off x="5120640" y="3291840"/>
            <a:ext cx="3291840" cy="1234440"/>
          </a:xfrm>
          <a:prstGeom prst="rect">
            <a:avLst/>
          </a:prstGeom>
          <a:noFill/>
          <a:ln/>
        </p:spPr>
        <p:txBody>
          <a:bodyPr wrap="square" lIns="0" tIns="0" rIns="0" bIns="0" rtlCol="0" anchor="t"/>
          <a:lstStyle/>
          <a:p>
            <a:pPr indent="0" marL="0">
              <a:buNone/>
            </a:pPr>
            <a:r>
              <a:rPr lang="en-US" sz="1300" i="1" dirty="0">
                <a:solidFill>
                  <a:srgbClr val="F0F4F8"/>
                </a:solidFill>
                <a:latin typeface="Calibri" pitchFamily="34" charset="0"/>
                <a:ea typeface="Calibri" pitchFamily="34" charset="-122"/>
                <a:cs typeface="Calibri" pitchFamily="34" charset="-120"/>
              </a:rPr>
              <a:t>“A proprietary algorithm is applied to weight each metric”</a:t>
            </a:r>
            <a:endParaRPr lang="en-US" sz="1300" dirty="0"/>
          </a:p>
          <a:p>
            <a:pPr indent="0" marL="0">
              <a:buNone/>
            </a:pPr>
            <a:r>
              <a:rPr lang="en-US" sz="1000" dirty="0">
                <a:solidFill>
                  <a:srgbClr val="5A6B7F"/>
                </a:solidFill>
                <a:latin typeface="Calibri" pitchFamily="34" charset="0"/>
                <a:ea typeface="Calibri" pitchFamily="34" charset="-122"/>
                <a:cs typeface="Calibri" pitchFamily="34" charset="-120"/>
              </a:rPr>
              <a:t>p. 29  ·  i.e. a secret formula</a:t>
            </a:r>
            <a:endParaRPr lang="en-US" sz="1300" dirty="0"/>
          </a:p>
          <a:p>
            <a:pPr indent="0" marL="0">
              <a:buNone/>
            </a:pPr>
            <a:r>
              <a:rPr lang="en-US" sz="1300" i="1" dirty="0">
                <a:solidFill>
                  <a:srgbClr val="F0F4F8"/>
                </a:solidFill>
                <a:latin typeface="Calibri" pitchFamily="34" charset="0"/>
                <a:ea typeface="Calibri" pitchFamily="34" charset="-122"/>
                <a:cs typeface="Calibri" pitchFamily="34" charset="-120"/>
              </a:rPr>
              <a:t>“the approach remains partly heuristic”</a:t>
            </a:r>
            <a:endParaRPr lang="en-US" sz="1300" dirty="0"/>
          </a:p>
          <a:p>
            <a:pPr indent="0" marL="0">
              <a:buNone/>
            </a:pPr>
            <a:r>
              <a:rPr lang="en-US" sz="1000" dirty="0">
                <a:solidFill>
                  <a:srgbClr val="5A6B7F"/>
                </a:solidFill>
                <a:latin typeface="Calibri" pitchFamily="34" charset="0"/>
                <a:ea typeface="Calibri" pitchFamily="34" charset="-122"/>
                <a:cs typeface="Calibri" pitchFamily="34" charset="-120"/>
              </a:rPr>
              <a:t>p. 41  ·  i.e. partly rules of thumb</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923"/>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F0F4F8"/>
                </a:solidFill>
                <a:latin typeface="Calibri" pitchFamily="34" charset="0"/>
                <a:ea typeface="Calibri" pitchFamily="34" charset="-122"/>
                <a:cs typeface="Calibri" pitchFamily="34" charset="-120"/>
              </a:rPr>
              <a:t>What We Do Better Than PWI</a:t>
            </a:r>
            <a:endParaRPr lang="en-US" sz="3200" dirty="0"/>
          </a:p>
        </p:txBody>
      </p:sp>
      <p:sp>
        <p:nvSpPr>
          <p:cNvPr id="3" name="Shape 1"/>
          <p:cNvSpPr/>
          <p:nvPr/>
        </p:nvSpPr>
        <p:spPr>
          <a:xfrm>
            <a:off x="548640" y="1143000"/>
            <a:ext cx="3749040" cy="457200"/>
          </a:xfrm>
          <a:prstGeom prst="roundRect">
            <a:avLst>
              <a:gd name="adj" fmla="val 16000"/>
            </a:avLst>
          </a:prstGeom>
          <a:solidFill>
            <a:srgbClr val="5A6B7F"/>
          </a:solidFill>
          <a:ln w="12700">
            <a:solidFill>
              <a:srgbClr val="5A6B7F"/>
            </a:solidFill>
            <a:prstDash val="solid"/>
          </a:ln>
        </p:spPr>
      </p:sp>
      <p:sp>
        <p:nvSpPr>
          <p:cNvPr id="4" name="Text 2"/>
          <p:cNvSpPr txBox="1"/>
          <p:nvPr/>
        </p:nvSpPr>
        <p:spPr>
          <a:xfrm>
            <a:off x="548640" y="1143000"/>
            <a:ext cx="3749040" cy="457200"/>
          </a:xfrm>
          <a:prstGeom prst="rect">
            <a:avLst/>
          </a:prstGeom>
          <a:noFill/>
          <a:ln/>
        </p:spPr>
        <p:txBody>
          <a:bodyPr wrap="square" lIns="0" tIns="0" rIns="0" bIns="0" rtlCol="0" anchor="ctr"/>
          <a:lstStyle/>
          <a:p>
            <a:pPr algn="ctr" indent="0" marL="0">
              <a:buNone/>
            </a:pPr>
            <a:r>
              <a:rPr lang="en-US" sz="1500" b="1" dirty="0">
                <a:solidFill>
                  <a:srgbClr val="F0F4F8"/>
                </a:solidFill>
                <a:latin typeface="Calibri" pitchFamily="34" charset="0"/>
                <a:ea typeface="Calibri" pitchFamily="34" charset="-122"/>
                <a:cs typeface="Calibri" pitchFamily="34" charset="-120"/>
              </a:rPr>
              <a:t>PWI (their score)</a:t>
            </a:r>
            <a:endParaRPr lang="en-US" sz="1500" dirty="0"/>
          </a:p>
        </p:txBody>
      </p:sp>
      <p:sp>
        <p:nvSpPr>
          <p:cNvPr id="5" name="Shape 3"/>
          <p:cNvSpPr/>
          <p:nvPr/>
        </p:nvSpPr>
        <p:spPr>
          <a:xfrm>
            <a:off x="4846320" y="1143000"/>
            <a:ext cx="3749040" cy="457200"/>
          </a:xfrm>
          <a:prstGeom prst="roundRect">
            <a:avLst>
              <a:gd name="adj" fmla="val 16000"/>
            </a:avLst>
          </a:prstGeom>
          <a:solidFill>
            <a:srgbClr val="00BFA6"/>
          </a:solidFill>
          <a:ln w="12700">
            <a:solidFill>
              <a:srgbClr val="00BFA6"/>
            </a:solidFill>
            <a:prstDash val="solid"/>
          </a:ln>
        </p:spPr>
      </p:sp>
      <p:sp>
        <p:nvSpPr>
          <p:cNvPr id="6" name="Text 4"/>
          <p:cNvSpPr txBox="1"/>
          <p:nvPr/>
        </p:nvSpPr>
        <p:spPr>
          <a:xfrm>
            <a:off x="4846320" y="1143000"/>
            <a:ext cx="3749040" cy="457200"/>
          </a:xfrm>
          <a:prstGeom prst="rect">
            <a:avLst/>
          </a:prstGeom>
          <a:noFill/>
          <a:ln/>
        </p:spPr>
        <p:txBody>
          <a:bodyPr wrap="square" lIns="0" tIns="0" rIns="0" bIns="0" rtlCol="0" anchor="ctr"/>
          <a:lstStyle/>
          <a:p>
            <a:pPr algn="ctr" indent="0" marL="0">
              <a:buNone/>
            </a:pPr>
            <a:r>
              <a:rPr lang="en-US" sz="1500" b="1" dirty="0">
                <a:solidFill>
                  <a:srgbClr val="0F1923"/>
                </a:solidFill>
                <a:latin typeface="Calibri" pitchFamily="34" charset="0"/>
                <a:ea typeface="Calibri" pitchFamily="34" charset="-122"/>
                <a:cs typeface="Calibri" pitchFamily="34" charset="-120"/>
              </a:rPr>
              <a:t>BodySync (our plan)</a:t>
            </a:r>
            <a:endParaRPr lang="en-US" sz="1500" dirty="0"/>
          </a:p>
        </p:txBody>
      </p:sp>
      <p:sp>
        <p:nvSpPr>
          <p:cNvPr id="7" name="Shape 5"/>
          <p:cNvSpPr/>
          <p:nvPr/>
        </p:nvSpPr>
        <p:spPr>
          <a:xfrm>
            <a:off x="548640" y="1737360"/>
            <a:ext cx="3749040" cy="512064"/>
          </a:xfrm>
          <a:prstGeom prst="roundRect">
            <a:avLst>
              <a:gd name="adj" fmla="val 14286"/>
            </a:avLst>
          </a:prstGeom>
          <a:solidFill>
            <a:srgbClr val="182735"/>
          </a:solidFill>
          <a:ln w="12700">
            <a:solidFill>
              <a:srgbClr val="182735"/>
            </a:solidFill>
            <a:prstDash val="solid"/>
          </a:ln>
        </p:spPr>
      </p:sp>
      <p:sp>
        <p:nvSpPr>
          <p:cNvPr id="8" name="Text 6"/>
          <p:cNvSpPr txBox="1"/>
          <p:nvPr/>
        </p:nvSpPr>
        <p:spPr>
          <a:xfrm>
            <a:off x="731520" y="1737360"/>
            <a:ext cx="3383280" cy="512064"/>
          </a:xfrm>
          <a:prstGeom prst="rect">
            <a:avLst/>
          </a:prstGeom>
          <a:noFill/>
          <a:ln/>
        </p:spPr>
        <p:txBody>
          <a:bodyPr wrap="square" lIns="0" tIns="0" rIns="0" bIns="0" rtlCol="0" anchor="ctr"/>
          <a:lstStyle/>
          <a:p>
            <a:pPr indent="0" marL="0">
              <a:buNone/>
            </a:pPr>
            <a:r>
              <a:rPr lang="en-US" sz="1300" dirty="0">
                <a:solidFill>
                  <a:srgbClr val="8899AA"/>
                </a:solidFill>
                <a:latin typeface="Calibri" pitchFamily="34" charset="0"/>
                <a:ea typeface="Calibri" pitchFamily="34" charset="-122"/>
                <a:cs typeface="Calibri" pitchFamily="34" charset="-120"/>
              </a:rPr>
              <a:t>Averages the signal values (weighted mean)</a:t>
            </a:r>
            <a:endParaRPr lang="en-US" sz="1300" dirty="0"/>
          </a:p>
        </p:txBody>
      </p:sp>
      <p:sp>
        <p:nvSpPr>
          <p:cNvPr id="9" name="Shape 7"/>
          <p:cNvSpPr/>
          <p:nvPr/>
        </p:nvSpPr>
        <p:spPr>
          <a:xfrm>
            <a:off x="4846320" y="1737360"/>
            <a:ext cx="3749040" cy="512064"/>
          </a:xfrm>
          <a:prstGeom prst="roundRect">
            <a:avLst>
              <a:gd name="adj" fmla="val 14286"/>
            </a:avLst>
          </a:prstGeom>
          <a:solidFill>
            <a:srgbClr val="1E3044"/>
          </a:solidFill>
          <a:ln w="12700">
            <a:solidFill>
              <a:srgbClr val="1E3044"/>
            </a:solidFill>
            <a:prstDash val="solid"/>
          </a:ln>
        </p:spPr>
      </p:sp>
      <p:sp>
        <p:nvSpPr>
          <p:cNvPr id="10" name="Text 8"/>
          <p:cNvSpPr txBox="1"/>
          <p:nvPr/>
        </p:nvSpPr>
        <p:spPr>
          <a:xfrm>
            <a:off x="5029200" y="1737360"/>
            <a:ext cx="3383280" cy="512064"/>
          </a:xfrm>
          <a:prstGeom prst="rect">
            <a:avLst/>
          </a:prstGeom>
          <a:noFill/>
          <a:ln/>
        </p:spPr>
        <p:txBody>
          <a:bodyPr wrap="square" lIns="0" tIns="0" rIns="0" bIns="0" rtlCol="0" anchor="ctr"/>
          <a:lstStyle/>
          <a:p>
            <a:pPr indent="0" marL="0">
              <a:buNone/>
            </a:pPr>
            <a:r>
              <a:rPr lang="en-US" sz="1300" b="1" dirty="0">
                <a:solidFill>
                  <a:srgbClr val="F0F4F8"/>
                </a:solidFill>
                <a:latin typeface="Calibri" pitchFamily="34" charset="0"/>
                <a:ea typeface="Calibri" pitchFamily="34" charset="-122"/>
                <a:cs typeface="Calibri" pitchFamily="34" charset="-120"/>
              </a:rPr>
              <a:t>Checks if signals rise and fall together (rolling Pearson correlation)</a:t>
            </a:r>
            <a:endParaRPr lang="en-US" sz="1300" dirty="0"/>
          </a:p>
        </p:txBody>
      </p:sp>
      <p:sp>
        <p:nvSpPr>
          <p:cNvPr id="11" name="Text 9"/>
          <p:cNvSpPr txBox="1"/>
          <p:nvPr/>
        </p:nvSpPr>
        <p:spPr>
          <a:xfrm>
            <a:off x="4297680" y="1737360"/>
            <a:ext cx="548640" cy="512064"/>
          </a:xfrm>
          <a:prstGeom prst="rect">
            <a:avLst/>
          </a:prstGeom>
          <a:noFill/>
          <a:ln/>
        </p:spPr>
        <p:txBody>
          <a:bodyPr wrap="square" lIns="0" tIns="0" rIns="0" bIns="0" rtlCol="0" anchor="ctr"/>
          <a:lstStyle/>
          <a:p>
            <a:pPr algn="ctr" indent="0" marL="0">
              <a:buNone/>
            </a:pPr>
            <a:r>
              <a:rPr lang="en-US" sz="1800" dirty="0">
                <a:solidFill>
                  <a:srgbClr val="00BFA6"/>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548640" y="2359152"/>
            <a:ext cx="3749040" cy="512064"/>
          </a:xfrm>
          <a:prstGeom prst="roundRect">
            <a:avLst>
              <a:gd name="adj" fmla="val 14286"/>
            </a:avLst>
          </a:prstGeom>
          <a:solidFill>
            <a:srgbClr val="182735"/>
          </a:solidFill>
          <a:ln w="12700">
            <a:solidFill>
              <a:srgbClr val="182735"/>
            </a:solidFill>
            <a:prstDash val="solid"/>
          </a:ln>
        </p:spPr>
      </p:sp>
      <p:sp>
        <p:nvSpPr>
          <p:cNvPr id="13" name="Text 11"/>
          <p:cNvSpPr txBox="1"/>
          <p:nvPr/>
        </p:nvSpPr>
        <p:spPr>
          <a:xfrm>
            <a:off x="731520" y="2359152"/>
            <a:ext cx="3383280" cy="512064"/>
          </a:xfrm>
          <a:prstGeom prst="rect">
            <a:avLst/>
          </a:prstGeom>
          <a:noFill/>
          <a:ln/>
        </p:spPr>
        <p:txBody>
          <a:bodyPr wrap="square" lIns="0" tIns="0" rIns="0" bIns="0" rtlCol="0" anchor="ctr"/>
          <a:lstStyle/>
          <a:p>
            <a:pPr indent="0" marL="0">
              <a:buNone/>
            </a:pPr>
            <a:r>
              <a:rPr lang="en-US" sz="1300" dirty="0">
                <a:solidFill>
                  <a:srgbClr val="8899AA"/>
                </a:solidFill>
                <a:latin typeface="Calibri" pitchFamily="34" charset="0"/>
                <a:ea typeface="Calibri" pitchFamily="34" charset="-122"/>
                <a:cs typeface="Calibri" pitchFamily="34" charset="-120"/>
              </a:rPr>
              <a:t>Weights picked by hand (heuristic)</a:t>
            </a:r>
            <a:endParaRPr lang="en-US" sz="1300" dirty="0"/>
          </a:p>
        </p:txBody>
      </p:sp>
      <p:sp>
        <p:nvSpPr>
          <p:cNvPr id="14" name="Shape 12"/>
          <p:cNvSpPr/>
          <p:nvPr/>
        </p:nvSpPr>
        <p:spPr>
          <a:xfrm>
            <a:off x="4846320" y="2359152"/>
            <a:ext cx="3749040" cy="512064"/>
          </a:xfrm>
          <a:prstGeom prst="roundRect">
            <a:avLst>
              <a:gd name="adj" fmla="val 14286"/>
            </a:avLst>
          </a:prstGeom>
          <a:solidFill>
            <a:srgbClr val="1E3044"/>
          </a:solidFill>
          <a:ln w="12700">
            <a:solidFill>
              <a:srgbClr val="1E3044"/>
            </a:solidFill>
            <a:prstDash val="solid"/>
          </a:ln>
        </p:spPr>
      </p:sp>
      <p:sp>
        <p:nvSpPr>
          <p:cNvPr id="15" name="Text 13"/>
          <p:cNvSpPr txBox="1"/>
          <p:nvPr/>
        </p:nvSpPr>
        <p:spPr>
          <a:xfrm>
            <a:off x="5029200" y="2359152"/>
            <a:ext cx="3383280" cy="512064"/>
          </a:xfrm>
          <a:prstGeom prst="rect">
            <a:avLst/>
          </a:prstGeom>
          <a:noFill/>
          <a:ln/>
        </p:spPr>
        <p:txBody>
          <a:bodyPr wrap="square" lIns="0" tIns="0" rIns="0" bIns="0" rtlCol="0" anchor="ctr"/>
          <a:lstStyle/>
          <a:p>
            <a:pPr indent="0" marL="0">
              <a:buNone/>
            </a:pPr>
            <a:r>
              <a:rPr lang="en-US" sz="1300" b="1" dirty="0">
                <a:solidFill>
                  <a:srgbClr val="F0F4F8"/>
                </a:solidFill>
                <a:latin typeface="Calibri" pitchFamily="34" charset="0"/>
                <a:ea typeface="Calibri" pitchFamily="34" charset="-122"/>
                <a:cs typeface="Calibri" pitchFamily="34" charset="-120"/>
              </a:rPr>
              <a:t>ML learns the weights from data (Random Forest, XGBoost + SHAP)</a:t>
            </a:r>
            <a:endParaRPr lang="en-US" sz="1300" dirty="0"/>
          </a:p>
        </p:txBody>
      </p:sp>
      <p:sp>
        <p:nvSpPr>
          <p:cNvPr id="16" name="Text 14"/>
          <p:cNvSpPr txBox="1"/>
          <p:nvPr/>
        </p:nvSpPr>
        <p:spPr>
          <a:xfrm>
            <a:off x="4297680" y="2359152"/>
            <a:ext cx="548640" cy="512064"/>
          </a:xfrm>
          <a:prstGeom prst="rect">
            <a:avLst/>
          </a:prstGeom>
          <a:noFill/>
          <a:ln/>
        </p:spPr>
        <p:txBody>
          <a:bodyPr wrap="square" lIns="0" tIns="0" rIns="0" bIns="0" rtlCol="0" anchor="ctr"/>
          <a:lstStyle/>
          <a:p>
            <a:pPr algn="ctr" indent="0" marL="0">
              <a:buNone/>
            </a:pPr>
            <a:r>
              <a:rPr lang="en-US" sz="1800" dirty="0">
                <a:solidFill>
                  <a:srgbClr val="00BFA6"/>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548640" y="2980944"/>
            <a:ext cx="3749040" cy="512064"/>
          </a:xfrm>
          <a:prstGeom prst="roundRect">
            <a:avLst>
              <a:gd name="adj" fmla="val 14286"/>
            </a:avLst>
          </a:prstGeom>
          <a:solidFill>
            <a:srgbClr val="182735"/>
          </a:solidFill>
          <a:ln w="12700">
            <a:solidFill>
              <a:srgbClr val="182735"/>
            </a:solidFill>
            <a:prstDash val="solid"/>
          </a:ln>
        </p:spPr>
      </p:sp>
      <p:sp>
        <p:nvSpPr>
          <p:cNvPr id="18" name="Text 16"/>
          <p:cNvSpPr txBox="1"/>
          <p:nvPr/>
        </p:nvSpPr>
        <p:spPr>
          <a:xfrm>
            <a:off x="731520" y="2980944"/>
            <a:ext cx="3383280" cy="512064"/>
          </a:xfrm>
          <a:prstGeom prst="rect">
            <a:avLst/>
          </a:prstGeom>
          <a:noFill/>
          <a:ln/>
        </p:spPr>
        <p:txBody>
          <a:bodyPr wrap="square" lIns="0" tIns="0" rIns="0" bIns="0" rtlCol="0" anchor="ctr"/>
          <a:lstStyle/>
          <a:p>
            <a:pPr indent="0" marL="0">
              <a:buNone/>
            </a:pPr>
            <a:r>
              <a:rPr lang="en-US" sz="1300" dirty="0">
                <a:solidFill>
                  <a:srgbClr val="8899AA"/>
                </a:solidFill>
                <a:latin typeface="Calibri" pitchFamily="34" charset="0"/>
                <a:ea typeface="Calibri" pitchFamily="34" charset="-122"/>
                <a:cs typeface="Calibri" pitchFamily="34" charset="-120"/>
              </a:rPr>
              <a:t>Tested on a few example days</a:t>
            </a:r>
            <a:endParaRPr lang="en-US" sz="1300" dirty="0"/>
          </a:p>
        </p:txBody>
      </p:sp>
      <p:sp>
        <p:nvSpPr>
          <p:cNvPr id="19" name="Shape 17"/>
          <p:cNvSpPr/>
          <p:nvPr/>
        </p:nvSpPr>
        <p:spPr>
          <a:xfrm>
            <a:off x="4846320" y="2980944"/>
            <a:ext cx="3749040" cy="512064"/>
          </a:xfrm>
          <a:prstGeom prst="roundRect">
            <a:avLst>
              <a:gd name="adj" fmla="val 14286"/>
            </a:avLst>
          </a:prstGeom>
          <a:solidFill>
            <a:srgbClr val="1E3044"/>
          </a:solidFill>
          <a:ln w="12700">
            <a:solidFill>
              <a:srgbClr val="1E3044"/>
            </a:solidFill>
            <a:prstDash val="solid"/>
          </a:ln>
        </p:spPr>
      </p:sp>
      <p:sp>
        <p:nvSpPr>
          <p:cNvPr id="20" name="Text 18"/>
          <p:cNvSpPr txBox="1"/>
          <p:nvPr/>
        </p:nvSpPr>
        <p:spPr>
          <a:xfrm>
            <a:off x="5029200" y="2980944"/>
            <a:ext cx="3383280" cy="512064"/>
          </a:xfrm>
          <a:prstGeom prst="rect">
            <a:avLst/>
          </a:prstGeom>
          <a:noFill/>
          <a:ln/>
        </p:spPr>
        <p:txBody>
          <a:bodyPr wrap="square" lIns="0" tIns="0" rIns="0" bIns="0" rtlCol="0" anchor="ctr"/>
          <a:lstStyle/>
          <a:p>
            <a:pPr indent="0" marL="0">
              <a:buNone/>
            </a:pPr>
            <a:r>
              <a:rPr lang="en-US" sz="1300" b="1" dirty="0">
                <a:solidFill>
                  <a:srgbClr val="F0F4F8"/>
                </a:solidFill>
                <a:latin typeface="Calibri" pitchFamily="34" charset="0"/>
                <a:ea typeface="Calibri" pitchFamily="34" charset="-122"/>
                <a:cs typeface="Calibri" pitchFamily="34" charset="-120"/>
              </a:rPr>
              <a:t>Tested on people the model has never seen (LOSO cross-validation)</a:t>
            </a:r>
            <a:endParaRPr lang="en-US" sz="1300" dirty="0"/>
          </a:p>
        </p:txBody>
      </p:sp>
      <p:sp>
        <p:nvSpPr>
          <p:cNvPr id="21" name="Text 19"/>
          <p:cNvSpPr txBox="1"/>
          <p:nvPr/>
        </p:nvSpPr>
        <p:spPr>
          <a:xfrm>
            <a:off x="4297680" y="2980944"/>
            <a:ext cx="548640" cy="512064"/>
          </a:xfrm>
          <a:prstGeom prst="rect">
            <a:avLst/>
          </a:prstGeom>
          <a:noFill/>
          <a:ln/>
        </p:spPr>
        <p:txBody>
          <a:bodyPr wrap="square" lIns="0" tIns="0" rIns="0" bIns="0" rtlCol="0" anchor="ctr"/>
          <a:lstStyle/>
          <a:p>
            <a:pPr algn="ctr" indent="0" marL="0">
              <a:buNone/>
            </a:pPr>
            <a:r>
              <a:rPr lang="en-US" sz="1800" dirty="0">
                <a:solidFill>
                  <a:srgbClr val="00BFA6"/>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548640" y="3602736"/>
            <a:ext cx="3749040" cy="512064"/>
          </a:xfrm>
          <a:prstGeom prst="roundRect">
            <a:avLst>
              <a:gd name="adj" fmla="val 14286"/>
            </a:avLst>
          </a:prstGeom>
          <a:solidFill>
            <a:srgbClr val="182735"/>
          </a:solidFill>
          <a:ln w="12700">
            <a:solidFill>
              <a:srgbClr val="182735"/>
            </a:solidFill>
            <a:prstDash val="solid"/>
          </a:ln>
        </p:spPr>
      </p:sp>
      <p:sp>
        <p:nvSpPr>
          <p:cNvPr id="23" name="Text 21"/>
          <p:cNvSpPr txBox="1"/>
          <p:nvPr/>
        </p:nvSpPr>
        <p:spPr>
          <a:xfrm>
            <a:off x="731520" y="3602736"/>
            <a:ext cx="3383280" cy="512064"/>
          </a:xfrm>
          <a:prstGeom prst="rect">
            <a:avLst/>
          </a:prstGeom>
          <a:noFill/>
          <a:ln/>
        </p:spPr>
        <p:txBody>
          <a:bodyPr wrap="square" lIns="0" tIns="0" rIns="0" bIns="0" rtlCol="0" anchor="ctr"/>
          <a:lstStyle/>
          <a:p>
            <a:pPr indent="0" marL="0">
              <a:buNone/>
            </a:pPr>
            <a:r>
              <a:rPr lang="en-US" sz="1300" dirty="0">
                <a:solidFill>
                  <a:srgbClr val="8899AA"/>
                </a:solidFill>
                <a:latin typeface="Calibri" pitchFamily="34" charset="0"/>
                <a:ea typeface="Calibri" pitchFamily="34" charset="-122"/>
                <a:cs typeface="Calibri" pitchFamily="34" charset="-120"/>
              </a:rPr>
              <a:t>Can't tell exercise from stress</a:t>
            </a:r>
            <a:endParaRPr lang="en-US" sz="1300" dirty="0"/>
          </a:p>
        </p:txBody>
      </p:sp>
      <p:sp>
        <p:nvSpPr>
          <p:cNvPr id="24" name="Shape 22"/>
          <p:cNvSpPr/>
          <p:nvPr/>
        </p:nvSpPr>
        <p:spPr>
          <a:xfrm>
            <a:off x="4846320" y="3602736"/>
            <a:ext cx="3749040" cy="512064"/>
          </a:xfrm>
          <a:prstGeom prst="roundRect">
            <a:avLst>
              <a:gd name="adj" fmla="val 14286"/>
            </a:avLst>
          </a:prstGeom>
          <a:solidFill>
            <a:srgbClr val="1E3044"/>
          </a:solidFill>
          <a:ln w="12700">
            <a:solidFill>
              <a:srgbClr val="1E3044"/>
            </a:solidFill>
            <a:prstDash val="solid"/>
          </a:ln>
        </p:spPr>
      </p:sp>
      <p:sp>
        <p:nvSpPr>
          <p:cNvPr id="25" name="Text 23"/>
          <p:cNvSpPr txBox="1"/>
          <p:nvPr/>
        </p:nvSpPr>
        <p:spPr>
          <a:xfrm>
            <a:off x="5029200" y="3602736"/>
            <a:ext cx="3383280" cy="512064"/>
          </a:xfrm>
          <a:prstGeom prst="rect">
            <a:avLst/>
          </a:prstGeom>
          <a:noFill/>
          <a:ln/>
        </p:spPr>
        <p:txBody>
          <a:bodyPr wrap="square" lIns="0" tIns="0" rIns="0" bIns="0" rtlCol="0" anchor="ctr"/>
          <a:lstStyle/>
          <a:p>
            <a:pPr indent="0" marL="0">
              <a:buNone/>
            </a:pPr>
            <a:r>
              <a:rPr lang="en-US" sz="1300" b="1" dirty="0">
                <a:solidFill>
                  <a:srgbClr val="F0F4F8"/>
                </a:solidFill>
                <a:latin typeface="Calibri" pitchFamily="34" charset="0"/>
                <a:ea typeface="Calibri" pitchFamily="34" charset="-122"/>
                <a:cs typeface="Calibri" pitchFamily="34" charset="-120"/>
              </a:rPr>
              <a:t>Separate normal ranges per activity (activity-aware baselines)</a:t>
            </a:r>
            <a:endParaRPr lang="en-US" sz="1300" dirty="0"/>
          </a:p>
        </p:txBody>
      </p:sp>
      <p:sp>
        <p:nvSpPr>
          <p:cNvPr id="26" name="Text 24"/>
          <p:cNvSpPr txBox="1"/>
          <p:nvPr/>
        </p:nvSpPr>
        <p:spPr>
          <a:xfrm>
            <a:off x="4297680" y="3602736"/>
            <a:ext cx="548640" cy="512064"/>
          </a:xfrm>
          <a:prstGeom prst="rect">
            <a:avLst/>
          </a:prstGeom>
          <a:noFill/>
          <a:ln/>
        </p:spPr>
        <p:txBody>
          <a:bodyPr wrap="square" lIns="0" tIns="0" rIns="0" bIns="0" rtlCol="0" anchor="ctr"/>
          <a:lstStyle/>
          <a:p>
            <a:pPr algn="ctr" indent="0" marL="0">
              <a:buNone/>
            </a:pPr>
            <a:r>
              <a:rPr lang="en-US" sz="1800" dirty="0">
                <a:solidFill>
                  <a:srgbClr val="00BFA6"/>
                </a:solidFill>
                <a:latin typeface="Calibri" pitchFamily="34" charset="0"/>
                <a:ea typeface="Calibri" pitchFamily="34" charset="-122"/>
                <a:cs typeface="Calibri" pitchFamily="34" charset="-120"/>
              </a:rPr>
              <a:t>→</a:t>
            </a:r>
            <a:endParaRPr lang="en-US" sz="1800" dirty="0"/>
          </a:p>
        </p:txBody>
      </p:sp>
      <p:sp>
        <p:nvSpPr>
          <p:cNvPr id="27" name="Text 25"/>
          <p:cNvSpPr txBox="1"/>
          <p:nvPr/>
        </p:nvSpPr>
        <p:spPr>
          <a:xfrm>
            <a:off x="548640" y="4206240"/>
            <a:ext cx="8046720" cy="502920"/>
          </a:xfrm>
          <a:prstGeom prst="rect">
            <a:avLst/>
          </a:prstGeom>
          <a:noFill/>
          <a:ln/>
        </p:spPr>
        <p:txBody>
          <a:bodyPr wrap="square" lIns="0" tIns="0" rIns="0" bIns="0" rtlCol="0" anchor="t"/>
          <a:lstStyle/>
          <a:p>
            <a:pPr indent="0" marL="0">
              <a:buNone/>
            </a:pPr>
            <a:r>
              <a:rPr lang="en-US" sz="1150" i="1" dirty="0">
                <a:solidFill>
                  <a:srgbClr val="5EECC0"/>
                </a:solidFill>
                <a:latin typeface="Calibri" pitchFamily="34" charset="0"/>
                <a:ea typeface="Calibri" pitchFamily="34" charset="-122"/>
                <a:cs typeface="Calibri" pitchFamily="34" charset="-120"/>
              </a:rPr>
              <a:t>Their own paper lists these as future work. Our idea is also backed by network physiology (Bashan 2012): body signals move together differently when asleep vs active, shown so far only with lab equipment.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923"/>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F0F4F8"/>
                </a:solidFill>
                <a:latin typeface="Calibri" pitchFamily="34" charset="0"/>
                <a:ea typeface="Calibri" pitchFamily="34" charset="-122"/>
                <a:cs typeface="Calibri" pitchFamily="34" charset="-120"/>
              </a:rPr>
              <a:t>The Dataset</a:t>
            </a:r>
            <a:endParaRPr lang="en-US" sz="3200" dirty="0"/>
          </a:p>
        </p:txBody>
      </p:sp>
      <p:sp>
        <p:nvSpPr>
          <p:cNvPr id="3" name="Text 1"/>
          <p:cNvSpPr txBox="1"/>
          <p:nvPr/>
        </p:nvSpPr>
        <p:spPr>
          <a:xfrm>
            <a:off x="548640" y="932688"/>
            <a:ext cx="8046720" cy="365760"/>
          </a:xfrm>
          <a:prstGeom prst="rect">
            <a:avLst/>
          </a:prstGeom>
          <a:noFill/>
          <a:ln/>
        </p:spPr>
        <p:txBody>
          <a:bodyPr wrap="square" lIns="0" tIns="0" rIns="0" bIns="0" rtlCol="0" anchor="ctr"/>
          <a:lstStyle/>
          <a:p>
            <a:pPr indent="0" marL="0">
              <a:buNone/>
            </a:pPr>
            <a:r>
              <a:rPr lang="en-US" sz="1400" dirty="0">
                <a:solidFill>
                  <a:srgbClr val="8899AA"/>
                </a:solidFill>
                <a:latin typeface="Calibri" pitchFamily="34" charset="0"/>
                <a:ea typeface="Calibri" pitchFamily="34" charset="-122"/>
                <a:cs typeface="Calibri" pitchFamily="34" charset="-120"/>
              </a:rPr>
              <a:t>Normally paid-only; co-author S. M. Salman Bukhari posted a free copy (no stress ratings)</a:t>
            </a:r>
            <a:endParaRPr lang="en-US" sz="1400" dirty="0"/>
          </a:p>
        </p:txBody>
      </p:sp>
      <p:sp>
        <p:nvSpPr>
          <p:cNvPr id="4" name="Shape 2"/>
          <p:cNvSpPr/>
          <p:nvPr/>
        </p:nvSpPr>
        <p:spPr>
          <a:xfrm>
            <a:off x="548640" y="1371600"/>
            <a:ext cx="5486400" cy="3291840"/>
          </a:xfrm>
          <a:prstGeom prst="roundRect">
            <a:avLst>
              <a:gd name="adj" fmla="val 2222"/>
            </a:avLst>
          </a:prstGeom>
          <a:solidFill>
            <a:srgbClr val="182735"/>
          </a:solidFill>
          <a:ln w="12700">
            <a:solidFill>
              <a:srgbClr val="182735"/>
            </a:solidFill>
            <a:prstDash val="solid"/>
          </a:ln>
        </p:spPr>
      </p:sp>
      <p:sp>
        <p:nvSpPr>
          <p:cNvPr id="5" name="Text 3"/>
          <p:cNvSpPr txBox="1"/>
          <p:nvPr/>
        </p:nvSpPr>
        <p:spPr>
          <a:xfrm>
            <a:off x="731520" y="1463040"/>
            <a:ext cx="5120640" cy="274320"/>
          </a:xfrm>
          <a:prstGeom prst="rect">
            <a:avLst/>
          </a:prstGeom>
          <a:noFill/>
          <a:ln/>
        </p:spPr>
        <p:txBody>
          <a:bodyPr wrap="square" lIns="0" tIns="0" rIns="0" bIns="0" rtlCol="0" anchor="t"/>
          <a:lstStyle/>
          <a:p>
            <a:pPr indent="0" marL="0">
              <a:buNone/>
            </a:pPr>
            <a:r>
              <a:rPr lang="en-US" sz="1100" dirty="0">
                <a:solidFill>
                  <a:srgbClr val="8899AA"/>
                </a:solidFill>
                <a:latin typeface="Calibri" pitchFamily="34" charset="0"/>
                <a:ea typeface="Calibri" pitchFamily="34" charset="-122"/>
                <a:cs typeface="Calibri" pitchFamily="34" charset="-120"/>
              </a:rPr>
              <a:t>Usable hours per person (all 3 main signals recorded), most to least</a:t>
            </a:r>
            <a:endParaRPr lang="en-US" sz="1100" dirty="0"/>
          </a:p>
        </p:txBody>
      </p:sp>
      <p:graphicFrame>
        <p:nvGraphicFramePr>
          <p:cNvPr id="6" name="Chart 0" descr=""/>
          <p:cNvGraphicFramePr/>
          <p:nvPr/>
        </p:nvGraphicFramePr>
        <p:xfrm>
          <a:off x="640080" y="1737360"/>
          <a:ext cx="5303520" cy="28346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217920" y="1371600"/>
            <a:ext cx="2377440" cy="731520"/>
          </a:xfrm>
          <a:prstGeom prst="roundRect">
            <a:avLst>
              <a:gd name="adj" fmla="val 10000"/>
            </a:avLst>
          </a:prstGeom>
          <a:solidFill>
            <a:srgbClr val="182735"/>
          </a:solidFill>
          <a:ln w="12700">
            <a:solidFill>
              <a:srgbClr val="182735"/>
            </a:solidFill>
            <a:prstDash val="solid"/>
          </a:ln>
        </p:spPr>
      </p:sp>
      <p:sp>
        <p:nvSpPr>
          <p:cNvPr id="8" name="Text 5"/>
          <p:cNvSpPr txBox="1"/>
          <p:nvPr/>
        </p:nvSpPr>
        <p:spPr>
          <a:xfrm>
            <a:off x="6355080" y="1417320"/>
            <a:ext cx="2194560" cy="384048"/>
          </a:xfrm>
          <a:prstGeom prst="rect">
            <a:avLst/>
          </a:prstGeom>
          <a:noFill/>
          <a:ln/>
        </p:spPr>
        <p:txBody>
          <a:bodyPr wrap="square" lIns="0" tIns="0" rIns="0" bIns="0" rtlCol="0" anchor="t"/>
          <a:lstStyle/>
          <a:p>
            <a:pPr indent="0" marL="0">
              <a:buNone/>
            </a:pPr>
            <a:r>
              <a:rPr lang="en-US" sz="2000" b="1" dirty="0">
                <a:solidFill>
                  <a:srgbClr val="00BFA6"/>
                </a:solidFill>
                <a:latin typeface="Calibri" pitchFamily="34" charset="0"/>
                <a:ea typeface="Calibri" pitchFamily="34" charset="-122"/>
                <a:cs typeface="Calibri" pitchFamily="34" charset="-120"/>
              </a:rPr>
              <a:t>901,440</a:t>
            </a:r>
            <a:endParaRPr lang="en-US" sz="2000" dirty="0"/>
          </a:p>
        </p:txBody>
      </p:sp>
      <p:sp>
        <p:nvSpPr>
          <p:cNvPr id="9" name="Text 6"/>
          <p:cNvSpPr txBox="1"/>
          <p:nvPr/>
        </p:nvSpPr>
        <p:spPr>
          <a:xfrm>
            <a:off x="6355080" y="1783080"/>
            <a:ext cx="2194560" cy="274320"/>
          </a:xfrm>
          <a:prstGeom prst="rect">
            <a:avLst/>
          </a:prstGeom>
          <a:noFill/>
          <a:ln/>
        </p:spPr>
        <p:txBody>
          <a:bodyPr wrap="square" lIns="0" tIns="0" rIns="0" bIns="0" rtlCol="0" anchor="t"/>
          <a:lstStyle/>
          <a:p>
            <a:pPr indent="0" marL="0">
              <a:buNone/>
            </a:pPr>
            <a:r>
              <a:rPr lang="en-US" sz="1050" dirty="0">
                <a:solidFill>
                  <a:srgbClr val="8899AA"/>
                </a:solidFill>
                <a:latin typeface="Calibri" pitchFamily="34" charset="0"/>
                <a:ea typeface="Calibri" pitchFamily="34" charset="-122"/>
                <a:cs typeface="Calibri" pitchFamily="34" charset="-120"/>
              </a:rPr>
              <a:t>rows, one per minute (24 columns)</a:t>
            </a:r>
            <a:endParaRPr lang="en-US" sz="1050" dirty="0"/>
          </a:p>
        </p:txBody>
      </p:sp>
      <p:sp>
        <p:nvSpPr>
          <p:cNvPr id="10" name="Shape 7"/>
          <p:cNvSpPr/>
          <p:nvPr/>
        </p:nvSpPr>
        <p:spPr>
          <a:xfrm>
            <a:off x="6217920" y="2221992"/>
            <a:ext cx="2377440" cy="731520"/>
          </a:xfrm>
          <a:prstGeom prst="roundRect">
            <a:avLst>
              <a:gd name="adj" fmla="val 10000"/>
            </a:avLst>
          </a:prstGeom>
          <a:solidFill>
            <a:srgbClr val="182735"/>
          </a:solidFill>
          <a:ln w="12700">
            <a:solidFill>
              <a:srgbClr val="182735"/>
            </a:solidFill>
            <a:prstDash val="solid"/>
          </a:ln>
        </p:spPr>
      </p:sp>
      <p:sp>
        <p:nvSpPr>
          <p:cNvPr id="11" name="Text 8"/>
          <p:cNvSpPr txBox="1"/>
          <p:nvPr/>
        </p:nvSpPr>
        <p:spPr>
          <a:xfrm>
            <a:off x="6355080" y="2267712"/>
            <a:ext cx="2194560" cy="384048"/>
          </a:xfrm>
          <a:prstGeom prst="rect">
            <a:avLst/>
          </a:prstGeom>
          <a:noFill/>
          <a:ln/>
        </p:spPr>
        <p:txBody>
          <a:bodyPr wrap="square" lIns="0" tIns="0" rIns="0" bIns="0" rtlCol="0" anchor="t"/>
          <a:lstStyle/>
          <a:p>
            <a:pPr indent="0" marL="0">
              <a:buNone/>
            </a:pPr>
            <a:r>
              <a:rPr lang="en-US" sz="2000" b="1" dirty="0">
                <a:solidFill>
                  <a:srgbClr val="00BFA6"/>
                </a:solidFill>
                <a:latin typeface="Calibri" pitchFamily="34" charset="0"/>
                <a:ea typeface="Calibri" pitchFamily="34" charset="-122"/>
                <a:cs typeface="Calibri" pitchFamily="34" charset="-120"/>
              </a:rPr>
              <a:t>27 people</a:t>
            </a:r>
            <a:endParaRPr lang="en-US" sz="2000" dirty="0"/>
          </a:p>
        </p:txBody>
      </p:sp>
      <p:sp>
        <p:nvSpPr>
          <p:cNvPr id="12" name="Text 9"/>
          <p:cNvSpPr txBox="1"/>
          <p:nvPr/>
        </p:nvSpPr>
        <p:spPr>
          <a:xfrm>
            <a:off x="6355080" y="2633472"/>
            <a:ext cx="2194560" cy="274320"/>
          </a:xfrm>
          <a:prstGeom prst="rect">
            <a:avLst/>
          </a:prstGeom>
          <a:noFill/>
          <a:ln/>
        </p:spPr>
        <p:txBody>
          <a:bodyPr wrap="square" lIns="0" tIns="0" rIns="0" bIns="0" rtlCol="0" anchor="t"/>
          <a:lstStyle/>
          <a:p>
            <a:pPr indent="0" marL="0">
              <a:buNone/>
            </a:pPr>
            <a:r>
              <a:rPr lang="en-US" sz="1050" dirty="0">
                <a:solidFill>
                  <a:srgbClr val="8899AA"/>
                </a:solidFill>
                <a:latin typeface="Calibri" pitchFamily="34" charset="0"/>
                <a:ea typeface="Calibri" pitchFamily="34" charset="-122"/>
                <a:cs typeface="Calibri" pitchFamily="34" charset="-120"/>
              </a:rPr>
              <a:t>~22 days each, ~7 usable h/day</a:t>
            </a:r>
            <a:endParaRPr lang="en-US" sz="1050" dirty="0"/>
          </a:p>
        </p:txBody>
      </p:sp>
      <p:sp>
        <p:nvSpPr>
          <p:cNvPr id="13" name="Shape 10"/>
          <p:cNvSpPr/>
          <p:nvPr/>
        </p:nvSpPr>
        <p:spPr>
          <a:xfrm>
            <a:off x="6217920" y="3072384"/>
            <a:ext cx="2377440" cy="731520"/>
          </a:xfrm>
          <a:prstGeom prst="roundRect">
            <a:avLst>
              <a:gd name="adj" fmla="val 10000"/>
            </a:avLst>
          </a:prstGeom>
          <a:solidFill>
            <a:srgbClr val="182735"/>
          </a:solidFill>
          <a:ln w="12700">
            <a:solidFill>
              <a:srgbClr val="182735"/>
            </a:solidFill>
            <a:prstDash val="solid"/>
          </a:ln>
        </p:spPr>
      </p:sp>
      <p:sp>
        <p:nvSpPr>
          <p:cNvPr id="14" name="Text 11"/>
          <p:cNvSpPr txBox="1"/>
          <p:nvPr/>
        </p:nvSpPr>
        <p:spPr>
          <a:xfrm>
            <a:off x="6355080" y="3118104"/>
            <a:ext cx="2194560" cy="384048"/>
          </a:xfrm>
          <a:prstGeom prst="rect">
            <a:avLst/>
          </a:prstGeom>
          <a:noFill/>
          <a:ln/>
        </p:spPr>
        <p:txBody>
          <a:bodyPr wrap="square" lIns="0" tIns="0" rIns="0" bIns="0" rtlCol="0" anchor="t"/>
          <a:lstStyle/>
          <a:p>
            <a:pPr indent="0" marL="0">
              <a:buNone/>
            </a:pPr>
            <a:r>
              <a:rPr lang="en-US" sz="2000" b="1" dirty="0">
                <a:solidFill>
                  <a:srgbClr val="FF6B6B"/>
                </a:solidFill>
                <a:latin typeface="Calibri" pitchFamily="34" charset="0"/>
                <a:ea typeface="Calibri" pitchFamily="34" charset="-122"/>
                <a:cs typeface="Calibri" pitchFamily="34" charset="-120"/>
              </a:rPr>
              <a:t>50%</a:t>
            </a:r>
            <a:endParaRPr lang="en-US" sz="2000" dirty="0"/>
          </a:p>
        </p:txBody>
      </p:sp>
      <p:sp>
        <p:nvSpPr>
          <p:cNvPr id="15" name="Text 12"/>
          <p:cNvSpPr txBox="1"/>
          <p:nvPr/>
        </p:nvSpPr>
        <p:spPr>
          <a:xfrm>
            <a:off x="6355080" y="3483864"/>
            <a:ext cx="2194560" cy="274320"/>
          </a:xfrm>
          <a:prstGeom prst="rect">
            <a:avLst/>
          </a:prstGeom>
          <a:noFill/>
          <a:ln/>
        </p:spPr>
        <p:txBody>
          <a:bodyPr wrap="square" lIns="0" tIns="0" rIns="0" bIns="0" rtlCol="0" anchor="t"/>
          <a:lstStyle/>
          <a:p>
            <a:pPr indent="0" marL="0">
              <a:buNone/>
            </a:pPr>
            <a:r>
              <a:rPr lang="en-US" sz="1050" dirty="0">
                <a:solidFill>
                  <a:srgbClr val="8899AA"/>
                </a:solidFill>
                <a:latin typeface="Calibri" pitchFamily="34" charset="0"/>
                <a:ea typeface="Calibri" pitchFamily="34" charset="-122"/>
                <a:cs typeface="Calibri" pitchFamily="34" charset="-120"/>
              </a:rPr>
              <a:t>of all data is from 2 people</a:t>
            </a:r>
            <a:endParaRPr lang="en-US" sz="1050" dirty="0"/>
          </a:p>
        </p:txBody>
      </p:sp>
      <p:sp>
        <p:nvSpPr>
          <p:cNvPr id="16" name="Shape 13"/>
          <p:cNvSpPr/>
          <p:nvPr/>
        </p:nvSpPr>
        <p:spPr>
          <a:xfrm>
            <a:off x="6217920" y="3922776"/>
            <a:ext cx="2377440" cy="731520"/>
          </a:xfrm>
          <a:prstGeom prst="roundRect">
            <a:avLst>
              <a:gd name="adj" fmla="val 10000"/>
            </a:avLst>
          </a:prstGeom>
          <a:solidFill>
            <a:srgbClr val="182735"/>
          </a:solidFill>
          <a:ln w="12700">
            <a:solidFill>
              <a:srgbClr val="182735"/>
            </a:solidFill>
            <a:prstDash val="solid"/>
          </a:ln>
        </p:spPr>
      </p:sp>
      <p:sp>
        <p:nvSpPr>
          <p:cNvPr id="17" name="Text 14"/>
          <p:cNvSpPr txBox="1"/>
          <p:nvPr/>
        </p:nvSpPr>
        <p:spPr>
          <a:xfrm>
            <a:off x="6355080" y="3968496"/>
            <a:ext cx="2194560" cy="384048"/>
          </a:xfrm>
          <a:prstGeom prst="rect">
            <a:avLst/>
          </a:prstGeom>
          <a:noFill/>
          <a:ln/>
        </p:spPr>
        <p:txBody>
          <a:bodyPr wrap="square" lIns="0" tIns="0" rIns="0" bIns="0" rtlCol="0" anchor="t"/>
          <a:lstStyle/>
          <a:p>
            <a:pPr indent="0" marL="0">
              <a:buNone/>
            </a:pPr>
            <a:r>
              <a:rPr lang="en-US" sz="2000" b="1" dirty="0">
                <a:solidFill>
                  <a:srgbClr val="00BFA6"/>
                </a:solidFill>
                <a:latin typeface="Calibri" pitchFamily="34" charset="0"/>
                <a:ea typeface="Calibri" pitchFamily="34" charset="-122"/>
                <a:cs typeface="Calibri" pitchFamily="34" charset="-120"/>
              </a:rPr>
              <a:t>~2</a:t>
            </a:r>
            <a:endParaRPr lang="en-US" sz="2000" dirty="0"/>
          </a:p>
        </p:txBody>
      </p:sp>
      <p:sp>
        <p:nvSpPr>
          <p:cNvPr id="18" name="Text 15"/>
          <p:cNvSpPr txBox="1"/>
          <p:nvPr/>
        </p:nvSpPr>
        <p:spPr>
          <a:xfrm>
            <a:off x="6355080" y="4334256"/>
            <a:ext cx="2194560" cy="274320"/>
          </a:xfrm>
          <a:prstGeom prst="rect">
            <a:avLst/>
          </a:prstGeom>
          <a:noFill/>
          <a:ln/>
        </p:spPr>
        <p:txBody>
          <a:bodyPr wrap="square" lIns="0" tIns="0" rIns="0" bIns="0" rtlCol="0" anchor="t"/>
          <a:lstStyle/>
          <a:p>
            <a:pPr indent="0" marL="0">
              <a:buNone/>
            </a:pPr>
            <a:r>
              <a:rPr lang="en-US" sz="1050" dirty="0">
                <a:solidFill>
                  <a:srgbClr val="8899AA"/>
                </a:solidFill>
                <a:latin typeface="Calibri" pitchFamily="34" charset="0"/>
                <a:ea typeface="Calibri" pitchFamily="34" charset="-122"/>
                <a:cs typeface="Calibri" pitchFamily="34" charset="-120"/>
              </a:rPr>
              <a:t>people wearing a watch per day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923"/>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F0F4F8"/>
                </a:solidFill>
                <a:latin typeface="Calibri" pitchFamily="34" charset="0"/>
                <a:ea typeface="Calibri" pitchFamily="34" charset="-122"/>
                <a:cs typeface="Calibri" pitchFamily="34" charset="-120"/>
              </a:rPr>
              <a:t>Which Signals Are Actually There?</a:t>
            </a:r>
            <a:endParaRPr lang="en-US" sz="3200" dirty="0"/>
          </a:p>
        </p:txBody>
      </p:sp>
      <p:sp>
        <p:nvSpPr>
          <p:cNvPr id="3" name="Text 1"/>
          <p:cNvSpPr txBox="1"/>
          <p:nvPr/>
        </p:nvSpPr>
        <p:spPr>
          <a:xfrm>
            <a:off x="548640" y="932688"/>
            <a:ext cx="8046720" cy="365760"/>
          </a:xfrm>
          <a:prstGeom prst="rect">
            <a:avLst/>
          </a:prstGeom>
          <a:noFill/>
          <a:ln/>
        </p:spPr>
        <p:txBody>
          <a:bodyPr wrap="square" lIns="0" tIns="0" rIns="0" bIns="0" rtlCol="0" anchor="ctr"/>
          <a:lstStyle/>
          <a:p>
            <a:pPr indent="0" marL="0">
              <a:buNone/>
            </a:pPr>
            <a:r>
              <a:rPr lang="en-US" sz="1400" dirty="0">
                <a:solidFill>
                  <a:srgbClr val="8899AA"/>
                </a:solidFill>
                <a:latin typeface="Calibri" pitchFamily="34" charset="0"/>
                <a:ea typeface="Calibri" pitchFamily="34" charset="-122"/>
                <a:cs typeface="Calibri" pitchFamily="34" charset="-120"/>
              </a:rPr>
              <a:t>% of minutes where the watch recorded each signal</a:t>
            </a:r>
            <a:endParaRPr lang="en-US" sz="1400" dirty="0"/>
          </a:p>
        </p:txBody>
      </p:sp>
      <p:sp>
        <p:nvSpPr>
          <p:cNvPr id="4" name="Shape 2"/>
          <p:cNvSpPr/>
          <p:nvPr/>
        </p:nvSpPr>
        <p:spPr>
          <a:xfrm>
            <a:off x="548640" y="1371600"/>
            <a:ext cx="5120640" cy="3291840"/>
          </a:xfrm>
          <a:prstGeom prst="roundRect">
            <a:avLst>
              <a:gd name="adj" fmla="val 2222"/>
            </a:avLst>
          </a:prstGeom>
          <a:solidFill>
            <a:srgbClr val="182735"/>
          </a:solidFill>
          <a:ln w="12700">
            <a:solidFill>
              <a:srgbClr val="182735"/>
            </a:solidFill>
            <a:prstDash val="solid"/>
          </a:ln>
        </p:spPr>
      </p:sp>
      <p:graphicFrame>
        <p:nvGraphicFramePr>
          <p:cNvPr id="5" name="Chart 0" descr=""/>
          <p:cNvGraphicFramePr/>
          <p:nvPr/>
        </p:nvGraphicFramePr>
        <p:xfrm>
          <a:off x="685800" y="1463040"/>
          <a:ext cx="4846320" cy="31089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852160" y="1371600"/>
            <a:ext cx="2743200" cy="868680"/>
          </a:xfrm>
          <a:prstGeom prst="roundRect">
            <a:avLst>
              <a:gd name="adj" fmla="val 8421"/>
            </a:avLst>
          </a:prstGeom>
          <a:solidFill>
            <a:srgbClr val="0D3D30"/>
          </a:solidFill>
          <a:ln w="12700">
            <a:solidFill>
              <a:srgbClr val="0D3D30"/>
            </a:solidFill>
            <a:prstDash val="solid"/>
          </a:ln>
        </p:spPr>
      </p:sp>
      <p:sp>
        <p:nvSpPr>
          <p:cNvPr id="7" name="Text 4"/>
          <p:cNvSpPr txBox="1"/>
          <p:nvPr/>
        </p:nvSpPr>
        <p:spPr>
          <a:xfrm>
            <a:off x="6035040" y="1417320"/>
            <a:ext cx="2377440" cy="411480"/>
          </a:xfrm>
          <a:prstGeom prst="rect">
            <a:avLst/>
          </a:prstGeom>
          <a:noFill/>
          <a:ln/>
        </p:spPr>
        <p:txBody>
          <a:bodyPr wrap="square" lIns="0" tIns="0" rIns="0" bIns="0" rtlCol="0" anchor="t"/>
          <a:lstStyle/>
          <a:p>
            <a:pPr indent="0" marL="0">
              <a:buNone/>
            </a:pPr>
            <a:r>
              <a:rPr lang="en-US" sz="2400" b="1" dirty="0">
                <a:solidFill>
                  <a:srgbClr val="5EECC0"/>
                </a:solidFill>
                <a:latin typeface="Calibri" pitchFamily="34" charset="0"/>
                <a:ea typeface="Calibri" pitchFamily="34" charset="-122"/>
                <a:cs typeface="Calibri" pitchFamily="34" charset="-120"/>
              </a:rPr>
              <a:t>55.7%</a:t>
            </a:r>
            <a:endParaRPr lang="en-US" sz="2400" dirty="0"/>
          </a:p>
        </p:txBody>
      </p:sp>
      <p:sp>
        <p:nvSpPr>
          <p:cNvPr id="8" name="Text 5"/>
          <p:cNvSpPr txBox="1"/>
          <p:nvPr/>
        </p:nvSpPr>
        <p:spPr>
          <a:xfrm>
            <a:off x="6035040" y="1828800"/>
            <a:ext cx="2468880" cy="365760"/>
          </a:xfrm>
          <a:prstGeom prst="rect">
            <a:avLst/>
          </a:prstGeom>
          <a:noFill/>
          <a:ln/>
        </p:spPr>
        <p:txBody>
          <a:bodyPr wrap="square" lIns="0" tIns="0" rIns="0" bIns="0" rtlCol="0" anchor="t"/>
          <a:lstStyle/>
          <a:p>
            <a:pPr indent="0" marL="0">
              <a:buNone/>
            </a:pPr>
            <a:r>
              <a:rPr lang="en-US" sz="1100" dirty="0">
                <a:solidFill>
                  <a:srgbClr val="F0F4F8"/>
                </a:solidFill>
                <a:latin typeface="Calibri" pitchFamily="34" charset="0"/>
                <a:ea typeface="Calibri" pitchFamily="34" charset="-122"/>
                <a:cs typeface="Calibri" pitchFamily="34" charset="-120"/>
              </a:rPr>
              <a:t>have heart rate, sweat and temp together</a:t>
            </a:r>
            <a:endParaRPr lang="en-US" sz="1100" dirty="0"/>
          </a:p>
        </p:txBody>
      </p:sp>
      <p:sp>
        <p:nvSpPr>
          <p:cNvPr id="9" name="Shape 6"/>
          <p:cNvSpPr/>
          <p:nvPr/>
        </p:nvSpPr>
        <p:spPr>
          <a:xfrm>
            <a:off x="5852160" y="2377440"/>
            <a:ext cx="2743200" cy="868680"/>
          </a:xfrm>
          <a:prstGeom prst="roundRect">
            <a:avLst>
              <a:gd name="adj" fmla="val 8421"/>
            </a:avLst>
          </a:prstGeom>
          <a:solidFill>
            <a:srgbClr val="3D1A1A"/>
          </a:solidFill>
          <a:ln w="12700">
            <a:solidFill>
              <a:srgbClr val="3D1A1A"/>
            </a:solidFill>
            <a:prstDash val="solid"/>
          </a:ln>
        </p:spPr>
      </p:sp>
      <p:sp>
        <p:nvSpPr>
          <p:cNvPr id="10" name="Text 7"/>
          <p:cNvSpPr txBox="1"/>
          <p:nvPr/>
        </p:nvSpPr>
        <p:spPr>
          <a:xfrm>
            <a:off x="6035040" y="2423160"/>
            <a:ext cx="2377440" cy="411480"/>
          </a:xfrm>
          <a:prstGeom prst="rect">
            <a:avLst/>
          </a:prstGeom>
          <a:noFill/>
          <a:ln/>
        </p:spPr>
        <p:txBody>
          <a:bodyPr wrap="square" lIns="0" tIns="0" rIns="0" bIns="0" rtlCol="0" anchor="t"/>
          <a:lstStyle/>
          <a:p>
            <a:pPr indent="0" marL="0">
              <a:buNone/>
            </a:pPr>
            <a:r>
              <a:rPr lang="en-US" sz="2400" b="1" dirty="0">
                <a:solidFill>
                  <a:srgbClr val="FF6B6B"/>
                </a:solidFill>
                <a:latin typeface="Calibri" pitchFamily="34" charset="0"/>
                <a:ea typeface="Calibri" pitchFamily="34" charset="-122"/>
                <a:cs typeface="Calibri" pitchFamily="34" charset="-120"/>
              </a:rPr>
              <a:t>9.6%</a:t>
            </a:r>
            <a:endParaRPr lang="en-US" sz="2400" dirty="0"/>
          </a:p>
        </p:txBody>
      </p:sp>
      <p:sp>
        <p:nvSpPr>
          <p:cNvPr id="11" name="Text 8"/>
          <p:cNvSpPr txBox="1"/>
          <p:nvPr/>
        </p:nvSpPr>
        <p:spPr>
          <a:xfrm>
            <a:off x="6035040" y="2834640"/>
            <a:ext cx="2468880" cy="365760"/>
          </a:xfrm>
          <a:prstGeom prst="rect">
            <a:avLst/>
          </a:prstGeom>
          <a:noFill/>
          <a:ln/>
        </p:spPr>
        <p:txBody>
          <a:bodyPr wrap="square" lIns="0" tIns="0" rIns="0" bIns="0" rtlCol="0" anchor="t"/>
          <a:lstStyle/>
          <a:p>
            <a:pPr indent="0" marL="0">
              <a:buNone/>
            </a:pPr>
            <a:r>
              <a:rPr lang="en-US" sz="1100" dirty="0">
                <a:solidFill>
                  <a:srgbClr val="F0F4F8"/>
                </a:solidFill>
                <a:latin typeface="Calibri" pitchFamily="34" charset="0"/>
                <a:ea typeface="Calibri" pitchFamily="34" charset="-122"/>
                <a:cs typeface="Calibri" pitchFamily="34" charset="-120"/>
              </a:rPr>
              <a:t>have HRV, breathing and sweat together</a:t>
            </a:r>
            <a:endParaRPr lang="en-US" sz="1100" dirty="0"/>
          </a:p>
        </p:txBody>
      </p:sp>
      <p:sp>
        <p:nvSpPr>
          <p:cNvPr id="12" name="Shape 9"/>
          <p:cNvSpPr/>
          <p:nvPr/>
        </p:nvSpPr>
        <p:spPr>
          <a:xfrm>
            <a:off x="5852160" y="3383280"/>
            <a:ext cx="2743200" cy="1280160"/>
          </a:xfrm>
          <a:prstGeom prst="roundRect">
            <a:avLst>
              <a:gd name="adj" fmla="val 5714"/>
            </a:avLst>
          </a:prstGeom>
          <a:solidFill>
            <a:srgbClr val="182735"/>
          </a:solidFill>
          <a:ln w="12700">
            <a:solidFill>
              <a:srgbClr val="182735"/>
            </a:solidFill>
            <a:prstDash val="solid"/>
          </a:ln>
        </p:spPr>
      </p:sp>
      <p:sp>
        <p:nvSpPr>
          <p:cNvPr id="13" name="Text 10"/>
          <p:cNvSpPr txBox="1"/>
          <p:nvPr/>
        </p:nvSpPr>
        <p:spPr>
          <a:xfrm>
            <a:off x="6035040" y="3383280"/>
            <a:ext cx="2423160" cy="1280160"/>
          </a:xfrm>
          <a:prstGeom prst="rect">
            <a:avLst/>
          </a:prstGeom>
          <a:noFill/>
          <a:ln/>
        </p:spPr>
        <p:txBody>
          <a:bodyPr wrap="square" lIns="0" tIns="0" rIns="0" bIns="0" rtlCol="0" anchor="ctr"/>
          <a:lstStyle/>
          <a:p>
            <a:pPr indent="0" marL="0">
              <a:buNone/>
            </a:pPr>
            <a:r>
              <a:rPr lang="en-US" sz="1100" b="1" dirty="0">
                <a:solidFill>
                  <a:srgbClr val="00BFA6"/>
                </a:solidFill>
                <a:latin typeface="Calibri" pitchFamily="34" charset="0"/>
                <a:ea typeface="Calibri" pitchFamily="34" charset="-122"/>
                <a:cs typeface="Calibri" pitchFamily="34" charset="-120"/>
              </a:rPr>
              <a:t>Why? </a:t>
            </a:r>
            <a:pPr indent="0" marL="0">
              <a:buNone/>
            </a:pPr>
            <a:r>
              <a:rPr lang="en-US" sz="1100" dirty="0">
                <a:solidFill>
                  <a:srgbClr val="F0F4F8"/>
                </a:solidFill>
                <a:latin typeface="Calibri" pitchFamily="34" charset="0"/>
                <a:ea typeface="Calibri" pitchFamily="34" charset="-122"/>
                <a:cs typeface="Calibri" pitchFamily="34" charset="-120"/>
              </a:rPr>
              <a:t>HRV (heartbeat variability) and breathing need a still wrist (motion artifacts in PPG): ~70% present asleep, &lt;5% awake. </a:t>
            </a:r>
            <a:pPr indent="0" marL="0">
              <a:buNone/>
            </a:pPr>
            <a:r>
              <a:rPr lang="en-US" sz="1100" b="1" dirty="0">
                <a:solidFill>
                  <a:srgbClr val="F0F4F8"/>
                </a:solidFill>
                <a:latin typeface="Calibri" pitchFamily="34" charset="0"/>
                <a:ea typeface="Calibri" pitchFamily="34" charset="-122"/>
                <a:cs typeface="Calibri" pitchFamily="34" charset="-120"/>
              </a:rPr>
              <a:t>So we use heart rate, sweat and temp.</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923"/>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F0F4F8"/>
                </a:solidFill>
                <a:latin typeface="Calibri" pitchFamily="34" charset="0"/>
                <a:ea typeface="Calibri" pitchFamily="34" charset="-122"/>
                <a:cs typeface="Calibri" pitchFamily="34" charset="-120"/>
              </a:rPr>
              <a:t>Gaps and Data Quality</a:t>
            </a:r>
            <a:endParaRPr lang="en-US" sz="3200" dirty="0"/>
          </a:p>
        </p:txBody>
      </p:sp>
      <p:sp>
        <p:nvSpPr>
          <p:cNvPr id="3" name="Shape 1"/>
          <p:cNvSpPr/>
          <p:nvPr/>
        </p:nvSpPr>
        <p:spPr>
          <a:xfrm>
            <a:off x="548640" y="1143000"/>
            <a:ext cx="3931920" cy="1645920"/>
          </a:xfrm>
          <a:prstGeom prst="roundRect">
            <a:avLst>
              <a:gd name="adj" fmla="val 4444"/>
            </a:avLst>
          </a:prstGeom>
          <a:solidFill>
            <a:srgbClr val="182735"/>
          </a:solidFill>
          <a:ln w="12700">
            <a:solidFill>
              <a:srgbClr val="182735"/>
            </a:solidFill>
            <a:prstDash val="solid"/>
          </a:ln>
        </p:spPr>
      </p:sp>
      <p:sp>
        <p:nvSpPr>
          <p:cNvPr id="4" name="Text 2"/>
          <p:cNvSpPr txBox="1"/>
          <p:nvPr/>
        </p:nvSpPr>
        <p:spPr>
          <a:xfrm>
            <a:off x="777240" y="1307592"/>
            <a:ext cx="1463040" cy="548640"/>
          </a:xfrm>
          <a:prstGeom prst="rect">
            <a:avLst/>
          </a:prstGeom>
          <a:noFill/>
          <a:ln/>
        </p:spPr>
        <p:txBody>
          <a:bodyPr wrap="square" lIns="0" tIns="0" rIns="0" bIns="0" rtlCol="0" anchor="t"/>
          <a:lstStyle/>
          <a:p>
            <a:pPr indent="0" marL="0">
              <a:buNone/>
            </a:pPr>
            <a:r>
              <a:rPr lang="en-US" sz="3000" b="1" dirty="0">
                <a:solidFill>
                  <a:srgbClr val="5EECC0"/>
                </a:solidFill>
                <a:latin typeface="Calibri" pitchFamily="34" charset="0"/>
                <a:ea typeface="Calibri" pitchFamily="34" charset="-122"/>
                <a:cs typeface="Calibri" pitchFamily="34" charset="-120"/>
              </a:rPr>
              <a:t>50%</a:t>
            </a:r>
            <a:endParaRPr lang="en-US" sz="3000" dirty="0"/>
          </a:p>
        </p:txBody>
      </p:sp>
      <p:sp>
        <p:nvSpPr>
          <p:cNvPr id="5" name="Text 3"/>
          <p:cNvSpPr txBox="1"/>
          <p:nvPr/>
        </p:nvSpPr>
        <p:spPr>
          <a:xfrm>
            <a:off x="2240280" y="1325880"/>
            <a:ext cx="2057400" cy="777240"/>
          </a:xfrm>
          <a:prstGeom prst="rect">
            <a:avLst/>
          </a:prstGeom>
          <a:noFill/>
          <a:ln/>
        </p:spPr>
        <p:txBody>
          <a:bodyPr wrap="square" lIns="0" tIns="0" rIns="0" bIns="0" rtlCol="0" anchor="t"/>
          <a:lstStyle/>
          <a:p>
            <a:pPr indent="0" marL="0">
              <a:buNone/>
            </a:pPr>
            <a:r>
              <a:rPr lang="en-US" sz="1200" dirty="0">
                <a:solidFill>
                  <a:srgbClr val="F0F4F8"/>
                </a:solidFill>
                <a:latin typeface="Calibri" pitchFamily="34" charset="0"/>
                <a:ea typeface="Calibri" pitchFamily="34" charset="-122"/>
                <a:cs typeface="Calibri" pitchFamily="34" charset="-120"/>
              </a:rPr>
              <a:t>of usable data comes in unbroken chunks of 6+ hours</a:t>
            </a:r>
            <a:endParaRPr lang="en-US" sz="1200" dirty="0"/>
          </a:p>
        </p:txBody>
      </p:sp>
      <p:sp>
        <p:nvSpPr>
          <p:cNvPr id="6" name="Text 4"/>
          <p:cNvSpPr txBox="1"/>
          <p:nvPr/>
        </p:nvSpPr>
        <p:spPr>
          <a:xfrm>
            <a:off x="777240" y="2194560"/>
            <a:ext cx="3520440" cy="411480"/>
          </a:xfrm>
          <a:prstGeom prst="rect">
            <a:avLst/>
          </a:prstGeom>
          <a:noFill/>
          <a:ln/>
        </p:spPr>
        <p:txBody>
          <a:bodyPr wrap="square" lIns="0" tIns="0" rIns="0" bIns="0" rtlCol="0" anchor="t"/>
          <a:lstStyle/>
          <a:p>
            <a:pPr indent="0" marL="0">
              <a:buNone/>
            </a:pPr>
            <a:r>
              <a:rPr lang="en-US" sz="1200" b="1" dirty="0">
                <a:solidFill>
                  <a:srgbClr val="8899AA"/>
                </a:solidFill>
                <a:latin typeface="Calibri" pitchFamily="34" charset="0"/>
                <a:ea typeface="Calibri" pitchFamily="34" charset="-122"/>
                <a:cs typeface="Calibri" pitchFamily="34" charset="-120"/>
              </a:rPr>
              <a:t>Good: 1-hour and 6-hour rolling windows work</a:t>
            </a:r>
            <a:endParaRPr lang="en-US" sz="1200" dirty="0"/>
          </a:p>
        </p:txBody>
      </p:sp>
      <p:sp>
        <p:nvSpPr>
          <p:cNvPr id="7" name="Shape 5"/>
          <p:cNvSpPr/>
          <p:nvPr/>
        </p:nvSpPr>
        <p:spPr>
          <a:xfrm>
            <a:off x="4663440" y="1143000"/>
            <a:ext cx="3931920" cy="1645920"/>
          </a:xfrm>
          <a:prstGeom prst="roundRect">
            <a:avLst>
              <a:gd name="adj" fmla="val 4444"/>
            </a:avLst>
          </a:prstGeom>
          <a:solidFill>
            <a:srgbClr val="182735"/>
          </a:solidFill>
          <a:ln w="12700">
            <a:solidFill>
              <a:srgbClr val="182735"/>
            </a:solidFill>
            <a:prstDash val="solid"/>
          </a:ln>
        </p:spPr>
      </p:sp>
      <p:sp>
        <p:nvSpPr>
          <p:cNvPr id="8" name="Text 6"/>
          <p:cNvSpPr txBox="1"/>
          <p:nvPr/>
        </p:nvSpPr>
        <p:spPr>
          <a:xfrm>
            <a:off x="4892040" y="1307592"/>
            <a:ext cx="1463040" cy="548640"/>
          </a:xfrm>
          <a:prstGeom prst="rect">
            <a:avLst/>
          </a:prstGeom>
          <a:noFill/>
          <a:ln/>
        </p:spPr>
        <p:txBody>
          <a:bodyPr wrap="square" lIns="0" tIns="0" rIns="0" bIns="0" rtlCol="0" anchor="t"/>
          <a:lstStyle/>
          <a:p>
            <a:pPr indent="0" marL="0">
              <a:buNone/>
            </a:pPr>
            <a:r>
              <a:rPr lang="en-US" sz="3000" b="1" dirty="0">
                <a:solidFill>
                  <a:srgbClr val="FF6B6B"/>
                </a:solidFill>
                <a:latin typeface="Calibri" pitchFamily="34" charset="0"/>
                <a:ea typeface="Calibri" pitchFamily="34" charset="-122"/>
                <a:cs typeface="Calibri" pitchFamily="34" charset="-120"/>
              </a:rPr>
              <a:t>3%</a:t>
            </a:r>
            <a:endParaRPr lang="en-US" sz="3000" dirty="0"/>
          </a:p>
        </p:txBody>
      </p:sp>
      <p:sp>
        <p:nvSpPr>
          <p:cNvPr id="9" name="Text 7"/>
          <p:cNvSpPr txBox="1"/>
          <p:nvPr/>
        </p:nvSpPr>
        <p:spPr>
          <a:xfrm>
            <a:off x="6355080" y="1325880"/>
            <a:ext cx="2057400" cy="777240"/>
          </a:xfrm>
          <a:prstGeom prst="rect">
            <a:avLst/>
          </a:prstGeom>
          <a:noFill/>
          <a:ln/>
        </p:spPr>
        <p:txBody>
          <a:bodyPr wrap="square" lIns="0" tIns="0" rIns="0" bIns="0" rtlCol="0" anchor="t"/>
          <a:lstStyle/>
          <a:p>
            <a:pPr indent="0" marL="0">
              <a:buNone/>
            </a:pPr>
            <a:r>
              <a:rPr lang="en-US" sz="1200" dirty="0">
                <a:solidFill>
                  <a:srgbClr val="F0F4F8"/>
                </a:solidFill>
                <a:latin typeface="Calibri" pitchFamily="34" charset="0"/>
                <a:ea typeface="Calibri" pitchFamily="34" charset="-122"/>
                <a:cs typeface="Calibri" pitchFamily="34" charset="-120"/>
              </a:rPr>
              <a:t>comes in unbroken chunks of 24+ hours</a:t>
            </a:r>
            <a:endParaRPr lang="en-US" sz="1200" dirty="0"/>
          </a:p>
        </p:txBody>
      </p:sp>
      <p:sp>
        <p:nvSpPr>
          <p:cNvPr id="10" name="Text 8"/>
          <p:cNvSpPr txBox="1"/>
          <p:nvPr/>
        </p:nvSpPr>
        <p:spPr>
          <a:xfrm>
            <a:off x="4892040" y="2194560"/>
            <a:ext cx="3520440" cy="411480"/>
          </a:xfrm>
          <a:prstGeom prst="rect">
            <a:avLst/>
          </a:prstGeom>
          <a:noFill/>
          <a:ln/>
        </p:spPr>
        <p:txBody>
          <a:bodyPr wrap="square" lIns="0" tIns="0" rIns="0" bIns="0" rtlCol="0" anchor="t"/>
          <a:lstStyle/>
          <a:p>
            <a:pPr indent="0" marL="0">
              <a:buNone/>
            </a:pPr>
            <a:r>
              <a:rPr lang="en-US" sz="1200" b="1" dirty="0">
                <a:solidFill>
                  <a:srgbClr val="8899AA"/>
                </a:solidFill>
                <a:latin typeface="Calibri" pitchFamily="34" charset="0"/>
                <a:ea typeface="Calibri" pitchFamily="34" charset="-122"/>
                <a:cs typeface="Calibri" pitchFamily="34" charset="-120"/>
              </a:rPr>
              <a:t>Too little, so we drop 24-hour windows</a:t>
            </a:r>
            <a:endParaRPr lang="en-US" sz="1200" dirty="0"/>
          </a:p>
        </p:txBody>
      </p:sp>
      <p:sp>
        <p:nvSpPr>
          <p:cNvPr id="11" name="Shape 9"/>
          <p:cNvSpPr/>
          <p:nvPr/>
        </p:nvSpPr>
        <p:spPr>
          <a:xfrm>
            <a:off x="548640" y="2926080"/>
            <a:ext cx="3931920" cy="1645920"/>
          </a:xfrm>
          <a:prstGeom prst="roundRect">
            <a:avLst>
              <a:gd name="adj" fmla="val 4444"/>
            </a:avLst>
          </a:prstGeom>
          <a:solidFill>
            <a:srgbClr val="182735"/>
          </a:solidFill>
          <a:ln w="12700">
            <a:solidFill>
              <a:srgbClr val="182735"/>
            </a:solidFill>
            <a:prstDash val="solid"/>
          </a:ln>
        </p:spPr>
      </p:sp>
      <p:sp>
        <p:nvSpPr>
          <p:cNvPr id="12" name="Text 10"/>
          <p:cNvSpPr txBox="1"/>
          <p:nvPr/>
        </p:nvSpPr>
        <p:spPr>
          <a:xfrm>
            <a:off x="777240" y="3090672"/>
            <a:ext cx="1463040" cy="548640"/>
          </a:xfrm>
          <a:prstGeom prst="rect">
            <a:avLst/>
          </a:prstGeom>
          <a:noFill/>
          <a:ln/>
        </p:spPr>
        <p:txBody>
          <a:bodyPr wrap="square" lIns="0" tIns="0" rIns="0" bIns="0" rtlCol="0" anchor="t"/>
          <a:lstStyle/>
          <a:p>
            <a:pPr indent="0" marL="0">
              <a:buNone/>
            </a:pPr>
            <a:r>
              <a:rPr lang="en-US" sz="3000" b="1" dirty="0">
                <a:solidFill>
                  <a:srgbClr val="FF6B6B"/>
                </a:solidFill>
                <a:latin typeface="Calibri" pitchFamily="34" charset="0"/>
                <a:ea typeface="Calibri" pitchFamily="34" charset="-122"/>
                <a:cs typeface="Calibri" pitchFamily="34" charset="-120"/>
              </a:rPr>
              <a:t>41%</a:t>
            </a:r>
            <a:endParaRPr lang="en-US" sz="3000" dirty="0"/>
          </a:p>
        </p:txBody>
      </p:sp>
      <p:sp>
        <p:nvSpPr>
          <p:cNvPr id="13" name="Text 11"/>
          <p:cNvSpPr txBox="1"/>
          <p:nvPr/>
        </p:nvSpPr>
        <p:spPr>
          <a:xfrm>
            <a:off x="2240280" y="3108960"/>
            <a:ext cx="2057400" cy="777240"/>
          </a:xfrm>
          <a:prstGeom prst="rect">
            <a:avLst/>
          </a:prstGeom>
          <a:noFill/>
          <a:ln/>
        </p:spPr>
        <p:txBody>
          <a:bodyPr wrap="square" lIns="0" tIns="0" rIns="0" bIns="0" rtlCol="0" anchor="t"/>
          <a:lstStyle/>
          <a:p>
            <a:pPr indent="0" marL="0">
              <a:buNone/>
            </a:pPr>
            <a:r>
              <a:rPr lang="en-US" sz="1200" dirty="0">
                <a:solidFill>
                  <a:srgbClr val="F0F4F8"/>
                </a:solidFill>
                <a:latin typeface="Calibri" pitchFamily="34" charset="0"/>
                <a:ea typeface="Calibri" pitchFamily="34" charset="-122"/>
                <a:cs typeface="Calibri" pitchFamily="34" charset="-120"/>
              </a:rPr>
              <a:t>of sweat (EDA) readings are close to zero (&lt; 0.05 µS)</a:t>
            </a:r>
            <a:endParaRPr lang="en-US" sz="1200" dirty="0"/>
          </a:p>
        </p:txBody>
      </p:sp>
      <p:sp>
        <p:nvSpPr>
          <p:cNvPr id="14" name="Text 12"/>
          <p:cNvSpPr txBox="1"/>
          <p:nvPr/>
        </p:nvSpPr>
        <p:spPr>
          <a:xfrm>
            <a:off x="777240" y="3977640"/>
            <a:ext cx="3520440" cy="411480"/>
          </a:xfrm>
          <a:prstGeom prst="rect">
            <a:avLst/>
          </a:prstGeom>
          <a:noFill/>
          <a:ln/>
        </p:spPr>
        <p:txBody>
          <a:bodyPr wrap="square" lIns="0" tIns="0" rIns="0" bIns="0" rtlCol="0" anchor="t"/>
          <a:lstStyle/>
          <a:p>
            <a:pPr indent="0" marL="0">
              <a:buNone/>
            </a:pPr>
            <a:r>
              <a:rPr lang="en-US" sz="1200" b="1" dirty="0">
                <a:solidFill>
                  <a:srgbClr val="8899AA"/>
                </a:solidFill>
                <a:latin typeface="Calibri" pitchFamily="34" charset="0"/>
                <a:ea typeface="Calibri" pitchFamily="34" charset="-122"/>
                <a:cs typeface="Calibri" pitchFamily="34" charset="-120"/>
              </a:rPr>
              <a:t>Sensor barely picks it up (sensor floor); we filter these</a:t>
            </a:r>
            <a:endParaRPr lang="en-US" sz="1200" dirty="0"/>
          </a:p>
        </p:txBody>
      </p:sp>
      <p:sp>
        <p:nvSpPr>
          <p:cNvPr id="15" name="Shape 13"/>
          <p:cNvSpPr/>
          <p:nvPr/>
        </p:nvSpPr>
        <p:spPr>
          <a:xfrm>
            <a:off x="4663440" y="2926080"/>
            <a:ext cx="3931920" cy="1645920"/>
          </a:xfrm>
          <a:prstGeom prst="roundRect">
            <a:avLst>
              <a:gd name="adj" fmla="val 4444"/>
            </a:avLst>
          </a:prstGeom>
          <a:solidFill>
            <a:srgbClr val="182735"/>
          </a:solidFill>
          <a:ln w="12700">
            <a:solidFill>
              <a:srgbClr val="182735"/>
            </a:solidFill>
            <a:prstDash val="solid"/>
          </a:ln>
        </p:spPr>
      </p:sp>
      <p:sp>
        <p:nvSpPr>
          <p:cNvPr id="16" name="Text 14"/>
          <p:cNvSpPr txBox="1"/>
          <p:nvPr/>
        </p:nvSpPr>
        <p:spPr>
          <a:xfrm>
            <a:off x="4892040" y="3090672"/>
            <a:ext cx="1463040" cy="548640"/>
          </a:xfrm>
          <a:prstGeom prst="rect">
            <a:avLst/>
          </a:prstGeom>
          <a:noFill/>
          <a:ln/>
        </p:spPr>
        <p:txBody>
          <a:bodyPr wrap="square" lIns="0" tIns="0" rIns="0" bIns="0" rtlCol="0" anchor="t"/>
          <a:lstStyle/>
          <a:p>
            <a:pPr indent="0" marL="0">
              <a:buNone/>
            </a:pPr>
            <a:r>
              <a:rPr lang="en-US" sz="3000" b="1" dirty="0">
                <a:solidFill>
                  <a:srgbClr val="FF6B6B"/>
                </a:solidFill>
                <a:latin typeface="Calibri" pitchFamily="34" charset="0"/>
                <a:ea typeface="Calibri" pitchFamily="34" charset="-122"/>
                <a:cs typeface="Calibri" pitchFamily="34" charset="-120"/>
              </a:rPr>
              <a:t>40.7%</a:t>
            </a:r>
            <a:endParaRPr lang="en-US" sz="3000" dirty="0"/>
          </a:p>
        </p:txBody>
      </p:sp>
      <p:sp>
        <p:nvSpPr>
          <p:cNvPr id="17" name="Text 15"/>
          <p:cNvSpPr txBox="1"/>
          <p:nvPr/>
        </p:nvSpPr>
        <p:spPr>
          <a:xfrm>
            <a:off x="6355080" y="3108960"/>
            <a:ext cx="2057400" cy="777240"/>
          </a:xfrm>
          <a:prstGeom prst="rect">
            <a:avLst/>
          </a:prstGeom>
          <a:noFill/>
          <a:ln/>
        </p:spPr>
        <p:txBody>
          <a:bodyPr wrap="square" lIns="0" tIns="0" rIns="0" bIns="0" rtlCol="0" anchor="t"/>
          <a:lstStyle/>
          <a:p>
            <a:pPr indent="0" marL="0">
              <a:buNone/>
            </a:pPr>
            <a:r>
              <a:rPr lang="en-US" sz="1200" dirty="0">
                <a:solidFill>
                  <a:srgbClr val="F0F4F8"/>
                </a:solidFill>
                <a:latin typeface="Calibri" pitchFamily="34" charset="0"/>
                <a:ea typeface="Calibri" pitchFamily="34" charset="-122"/>
                <a:cs typeface="Calibri" pitchFamily="34" charset="-120"/>
              </a:rPr>
              <a:t>of rows are empty (watch off or not worn)</a:t>
            </a:r>
            <a:endParaRPr lang="en-US" sz="1200" dirty="0"/>
          </a:p>
        </p:txBody>
      </p:sp>
      <p:sp>
        <p:nvSpPr>
          <p:cNvPr id="18" name="Text 16"/>
          <p:cNvSpPr txBox="1"/>
          <p:nvPr/>
        </p:nvSpPr>
        <p:spPr>
          <a:xfrm>
            <a:off x="4892040" y="3977640"/>
            <a:ext cx="3520440" cy="411480"/>
          </a:xfrm>
          <a:prstGeom prst="rect">
            <a:avLst/>
          </a:prstGeom>
          <a:noFill/>
          <a:ln/>
        </p:spPr>
        <p:txBody>
          <a:bodyPr wrap="square" lIns="0" tIns="0" rIns="0" bIns="0" rtlCol="0" anchor="t"/>
          <a:lstStyle/>
          <a:p>
            <a:pPr indent="0" marL="0">
              <a:buNone/>
            </a:pPr>
            <a:r>
              <a:rPr lang="en-US" sz="1200" b="1" dirty="0">
                <a:solidFill>
                  <a:srgbClr val="8899AA"/>
                </a:solidFill>
                <a:latin typeface="Calibri" pitchFamily="34" charset="0"/>
                <a:ea typeface="Calibri" pitchFamily="34" charset="-122"/>
                <a:cs typeface="Calibri" pitchFamily="34" charset="-120"/>
              </a:rPr>
              <a:t>We remove these using the wear-detection flag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923"/>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F0F4F8"/>
                </a:solidFill>
                <a:latin typeface="Calibri" pitchFamily="34" charset="0"/>
                <a:ea typeface="Calibri" pitchFamily="34" charset="-122"/>
                <a:cs typeface="Calibri" pitchFamily="34" charset="-120"/>
              </a:rPr>
              <a:t>Planned ML Pipeline</a:t>
            </a:r>
            <a:endParaRPr lang="en-US" sz="3200" dirty="0"/>
          </a:p>
        </p:txBody>
      </p:sp>
      <p:sp>
        <p:nvSpPr>
          <p:cNvPr id="3" name="Text 1"/>
          <p:cNvSpPr txBox="1"/>
          <p:nvPr/>
        </p:nvSpPr>
        <p:spPr>
          <a:xfrm>
            <a:off x="548640" y="932688"/>
            <a:ext cx="8046720" cy="365760"/>
          </a:xfrm>
          <a:prstGeom prst="rect">
            <a:avLst/>
          </a:prstGeom>
          <a:noFill/>
          <a:ln/>
        </p:spPr>
        <p:txBody>
          <a:bodyPr wrap="square" lIns="0" tIns="0" rIns="0" bIns="0" rtlCol="0" anchor="ctr"/>
          <a:lstStyle/>
          <a:p>
            <a:pPr indent="0" marL="0">
              <a:buNone/>
            </a:pPr>
            <a:r>
              <a:rPr lang="en-US" sz="1400" dirty="0">
                <a:solidFill>
                  <a:srgbClr val="8899AA"/>
                </a:solidFill>
                <a:latin typeface="Calibri" pitchFamily="34" charset="0"/>
                <a:ea typeface="Calibri" pitchFamily="34" charset="-122"/>
                <a:cs typeface="Calibri" pitchFamily="34" charset="-120"/>
              </a:rPr>
              <a:t>How we go from raw watch data to results</a:t>
            </a:r>
            <a:endParaRPr lang="en-US" sz="1400" dirty="0"/>
          </a:p>
        </p:txBody>
      </p:sp>
      <p:sp>
        <p:nvSpPr>
          <p:cNvPr id="4" name="Shape 2"/>
          <p:cNvSpPr/>
          <p:nvPr/>
        </p:nvSpPr>
        <p:spPr>
          <a:xfrm>
            <a:off x="548640" y="1371600"/>
            <a:ext cx="1389888" cy="1325880"/>
          </a:xfrm>
          <a:prstGeom prst="roundRect">
            <a:avLst>
              <a:gd name="adj" fmla="val 5517"/>
            </a:avLst>
          </a:prstGeom>
          <a:solidFill>
            <a:srgbClr val="182735"/>
          </a:solidFill>
          <a:ln w="12700">
            <a:solidFill>
              <a:srgbClr val="182735"/>
            </a:solidFill>
            <a:prstDash val="solid"/>
          </a:ln>
        </p:spPr>
      </p:sp>
      <p:sp>
        <p:nvSpPr>
          <p:cNvPr id="5" name="Text 3"/>
          <p:cNvSpPr txBox="1"/>
          <p:nvPr/>
        </p:nvSpPr>
        <p:spPr>
          <a:xfrm>
            <a:off x="685800" y="1463040"/>
            <a:ext cx="457200" cy="320040"/>
          </a:xfrm>
          <a:prstGeom prst="rect">
            <a:avLst/>
          </a:prstGeom>
          <a:noFill/>
          <a:ln/>
        </p:spPr>
        <p:txBody>
          <a:bodyPr wrap="square" lIns="0" tIns="0" rIns="0" bIns="0" rtlCol="0" anchor="t"/>
          <a:lstStyle/>
          <a:p>
            <a:pPr indent="0" marL="0">
              <a:buNone/>
            </a:pPr>
            <a:r>
              <a:rPr lang="en-US" sz="1600" b="1" dirty="0">
                <a:solidFill>
                  <a:srgbClr val="00BFA6"/>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85800" y="1783080"/>
            <a:ext cx="1115568" cy="411480"/>
          </a:xfrm>
          <a:prstGeom prst="rect">
            <a:avLst/>
          </a:prstGeom>
          <a:noFill/>
          <a:ln/>
        </p:spPr>
        <p:txBody>
          <a:bodyPr wrap="square" lIns="0" tIns="0" rIns="0" bIns="0" rtlCol="0" anchor="t"/>
          <a:lstStyle/>
          <a:p>
            <a:pPr indent="0" marL="0">
              <a:buNone/>
            </a:pPr>
            <a:r>
              <a:rPr lang="en-US" sz="1300" b="1" dirty="0">
                <a:solidFill>
                  <a:srgbClr val="F0F4F8"/>
                </a:solidFill>
                <a:latin typeface="Calibri" pitchFamily="34" charset="0"/>
                <a:ea typeface="Calibri" pitchFamily="34" charset="-122"/>
                <a:cs typeface="Calibri" pitchFamily="34" charset="-120"/>
              </a:rPr>
              <a:t>Clean the data</a:t>
            </a:r>
            <a:endParaRPr lang="en-US" sz="1300" dirty="0"/>
          </a:p>
        </p:txBody>
      </p:sp>
      <p:sp>
        <p:nvSpPr>
          <p:cNvPr id="7" name="Text 5"/>
          <p:cNvSpPr txBox="1"/>
          <p:nvPr/>
        </p:nvSpPr>
        <p:spPr>
          <a:xfrm>
            <a:off x="685800" y="2194560"/>
            <a:ext cx="1115568" cy="457200"/>
          </a:xfrm>
          <a:prstGeom prst="rect">
            <a:avLst/>
          </a:prstGeom>
          <a:noFill/>
          <a:ln/>
        </p:spPr>
        <p:txBody>
          <a:bodyPr wrap="square" lIns="0" tIns="0" rIns="0" bIns="0" rtlCol="0" anchor="t"/>
          <a:lstStyle/>
          <a:p>
            <a:pPr indent="0" marL="0">
              <a:buNone/>
            </a:pPr>
            <a:r>
              <a:rPr lang="en-US" sz="1050" dirty="0">
                <a:solidFill>
                  <a:srgbClr val="8899AA"/>
                </a:solidFill>
                <a:latin typeface="Calibri" pitchFamily="34" charset="0"/>
                <a:ea typeface="Calibri" pitchFamily="34" charset="-122"/>
                <a:cs typeface="Calibri" pitchFamily="34" charset="-120"/>
              </a:rPr>
              <a:t>wear filtering, quality checks</a:t>
            </a:r>
            <a:endParaRPr lang="en-US" sz="1050" dirty="0"/>
          </a:p>
        </p:txBody>
      </p:sp>
      <p:sp>
        <p:nvSpPr>
          <p:cNvPr id="8" name="Text 6"/>
          <p:cNvSpPr txBox="1"/>
          <p:nvPr/>
        </p:nvSpPr>
        <p:spPr>
          <a:xfrm>
            <a:off x="1938528" y="1371600"/>
            <a:ext cx="274320" cy="1325880"/>
          </a:xfrm>
          <a:prstGeom prst="rect">
            <a:avLst/>
          </a:prstGeom>
          <a:noFill/>
          <a:ln/>
        </p:spPr>
        <p:txBody>
          <a:bodyPr wrap="square" lIns="0" tIns="0" rIns="0" bIns="0" rtlCol="0" anchor="ctr"/>
          <a:lstStyle/>
          <a:p>
            <a:pPr algn="ctr" indent="0" marL="0">
              <a:buNone/>
            </a:pPr>
            <a:r>
              <a:rPr lang="en-US" sz="1600" dirty="0">
                <a:solidFill>
                  <a:srgbClr val="00BFA6"/>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212848" y="1371600"/>
            <a:ext cx="1389888" cy="1325880"/>
          </a:xfrm>
          <a:prstGeom prst="roundRect">
            <a:avLst>
              <a:gd name="adj" fmla="val 5517"/>
            </a:avLst>
          </a:prstGeom>
          <a:solidFill>
            <a:srgbClr val="182735"/>
          </a:solidFill>
          <a:ln w="12700">
            <a:solidFill>
              <a:srgbClr val="182735"/>
            </a:solidFill>
            <a:prstDash val="solid"/>
          </a:ln>
        </p:spPr>
      </p:sp>
      <p:sp>
        <p:nvSpPr>
          <p:cNvPr id="10" name="Text 8"/>
          <p:cNvSpPr txBox="1"/>
          <p:nvPr/>
        </p:nvSpPr>
        <p:spPr>
          <a:xfrm>
            <a:off x="2350008" y="1463040"/>
            <a:ext cx="457200" cy="320040"/>
          </a:xfrm>
          <a:prstGeom prst="rect">
            <a:avLst/>
          </a:prstGeom>
          <a:noFill/>
          <a:ln/>
        </p:spPr>
        <p:txBody>
          <a:bodyPr wrap="square" lIns="0" tIns="0" rIns="0" bIns="0" rtlCol="0" anchor="t"/>
          <a:lstStyle/>
          <a:p>
            <a:pPr indent="0" marL="0">
              <a:buNone/>
            </a:pPr>
            <a:r>
              <a:rPr lang="en-US" sz="1600" b="1" dirty="0">
                <a:solidFill>
                  <a:srgbClr val="00BFA6"/>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2350008" y="1783080"/>
            <a:ext cx="1115568" cy="411480"/>
          </a:xfrm>
          <a:prstGeom prst="rect">
            <a:avLst/>
          </a:prstGeom>
          <a:noFill/>
          <a:ln/>
        </p:spPr>
        <p:txBody>
          <a:bodyPr wrap="square" lIns="0" tIns="0" rIns="0" bIns="0" rtlCol="0" anchor="t"/>
          <a:lstStyle/>
          <a:p>
            <a:pPr indent="0" marL="0">
              <a:buNone/>
            </a:pPr>
            <a:r>
              <a:rPr lang="en-US" sz="1300" b="1" dirty="0">
                <a:solidFill>
                  <a:srgbClr val="F0F4F8"/>
                </a:solidFill>
                <a:latin typeface="Calibri" pitchFamily="34" charset="0"/>
                <a:ea typeface="Calibri" pitchFamily="34" charset="-122"/>
                <a:cs typeface="Calibri" pitchFamily="34" charset="-120"/>
              </a:rPr>
              <a:t>Build sync features</a:t>
            </a:r>
            <a:endParaRPr lang="en-US" sz="1300" dirty="0"/>
          </a:p>
        </p:txBody>
      </p:sp>
      <p:sp>
        <p:nvSpPr>
          <p:cNvPr id="12" name="Text 10"/>
          <p:cNvSpPr txBox="1"/>
          <p:nvPr/>
        </p:nvSpPr>
        <p:spPr>
          <a:xfrm>
            <a:off x="2350008" y="2194560"/>
            <a:ext cx="1115568" cy="457200"/>
          </a:xfrm>
          <a:prstGeom prst="rect">
            <a:avLst/>
          </a:prstGeom>
          <a:noFill/>
          <a:ln/>
        </p:spPr>
        <p:txBody>
          <a:bodyPr wrap="square" lIns="0" tIns="0" rIns="0" bIns="0" rtlCol="0" anchor="t"/>
          <a:lstStyle/>
          <a:p>
            <a:pPr indent="0" marL="0">
              <a:buNone/>
            </a:pPr>
            <a:r>
              <a:rPr lang="en-US" sz="1050" dirty="0">
                <a:solidFill>
                  <a:srgbClr val="8899AA"/>
                </a:solidFill>
                <a:latin typeface="Calibri" pitchFamily="34" charset="0"/>
                <a:ea typeface="Calibri" pitchFamily="34" charset="-122"/>
                <a:cs typeface="Calibri" pitchFamily="34" charset="-120"/>
              </a:rPr>
              <a:t>rolling Pearson r, 1 h &amp; 6 h windows</a:t>
            </a:r>
            <a:endParaRPr lang="en-US" sz="1050" dirty="0"/>
          </a:p>
        </p:txBody>
      </p:sp>
      <p:sp>
        <p:nvSpPr>
          <p:cNvPr id="13" name="Text 11"/>
          <p:cNvSpPr txBox="1"/>
          <p:nvPr/>
        </p:nvSpPr>
        <p:spPr>
          <a:xfrm>
            <a:off x="3602736" y="1371600"/>
            <a:ext cx="274320" cy="1325880"/>
          </a:xfrm>
          <a:prstGeom prst="rect">
            <a:avLst/>
          </a:prstGeom>
          <a:noFill/>
          <a:ln/>
        </p:spPr>
        <p:txBody>
          <a:bodyPr wrap="square" lIns="0" tIns="0" rIns="0" bIns="0" rtlCol="0" anchor="ctr"/>
          <a:lstStyle/>
          <a:p>
            <a:pPr algn="ctr" indent="0" marL="0">
              <a:buNone/>
            </a:pPr>
            <a:r>
              <a:rPr lang="en-US" sz="1600" dirty="0">
                <a:solidFill>
                  <a:srgbClr val="00BFA6"/>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3877056" y="1371600"/>
            <a:ext cx="1389888" cy="1325880"/>
          </a:xfrm>
          <a:prstGeom prst="roundRect">
            <a:avLst>
              <a:gd name="adj" fmla="val 5517"/>
            </a:avLst>
          </a:prstGeom>
          <a:solidFill>
            <a:srgbClr val="1E3044"/>
          </a:solidFill>
          <a:ln w="12700">
            <a:solidFill>
              <a:srgbClr val="1E3044"/>
            </a:solidFill>
            <a:prstDash val="solid"/>
          </a:ln>
        </p:spPr>
      </p:sp>
      <p:sp>
        <p:nvSpPr>
          <p:cNvPr id="15" name="Text 13"/>
          <p:cNvSpPr txBox="1"/>
          <p:nvPr/>
        </p:nvSpPr>
        <p:spPr>
          <a:xfrm>
            <a:off x="4014216" y="1463040"/>
            <a:ext cx="457200" cy="320040"/>
          </a:xfrm>
          <a:prstGeom prst="rect">
            <a:avLst/>
          </a:prstGeom>
          <a:noFill/>
          <a:ln/>
        </p:spPr>
        <p:txBody>
          <a:bodyPr wrap="square" lIns="0" tIns="0" rIns="0" bIns="0" rtlCol="0" anchor="t"/>
          <a:lstStyle/>
          <a:p>
            <a:pPr indent="0" marL="0">
              <a:buNone/>
            </a:pPr>
            <a:r>
              <a:rPr lang="en-US" sz="1600" b="1" dirty="0">
                <a:solidFill>
                  <a:srgbClr val="00BFA6"/>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4014216" y="1783080"/>
            <a:ext cx="1115568" cy="411480"/>
          </a:xfrm>
          <a:prstGeom prst="rect">
            <a:avLst/>
          </a:prstGeom>
          <a:noFill/>
          <a:ln/>
        </p:spPr>
        <p:txBody>
          <a:bodyPr wrap="square" lIns="0" tIns="0" rIns="0" bIns="0" rtlCol="0" anchor="t"/>
          <a:lstStyle/>
          <a:p>
            <a:pPr indent="0" marL="0">
              <a:buNone/>
            </a:pPr>
            <a:r>
              <a:rPr lang="en-US" sz="1300" b="1" dirty="0">
                <a:solidFill>
                  <a:srgbClr val="F0F4F8"/>
                </a:solidFill>
                <a:latin typeface="Calibri" pitchFamily="34" charset="0"/>
                <a:ea typeface="Calibri" pitchFamily="34" charset="-122"/>
                <a:cs typeface="Calibri" pitchFamily="34" charset="-120"/>
              </a:rPr>
              <a:t>Train models</a:t>
            </a:r>
            <a:endParaRPr lang="en-US" sz="1300" dirty="0"/>
          </a:p>
        </p:txBody>
      </p:sp>
      <p:sp>
        <p:nvSpPr>
          <p:cNvPr id="17" name="Text 15"/>
          <p:cNvSpPr txBox="1"/>
          <p:nvPr/>
        </p:nvSpPr>
        <p:spPr>
          <a:xfrm>
            <a:off x="4014216" y="2194560"/>
            <a:ext cx="1115568" cy="457200"/>
          </a:xfrm>
          <a:prstGeom prst="rect">
            <a:avLst/>
          </a:prstGeom>
          <a:noFill/>
          <a:ln/>
        </p:spPr>
        <p:txBody>
          <a:bodyPr wrap="square" lIns="0" tIns="0" rIns="0" bIns="0" rtlCol="0" anchor="t"/>
          <a:lstStyle/>
          <a:p>
            <a:pPr indent="0" marL="0">
              <a:buNone/>
            </a:pPr>
            <a:r>
              <a:rPr lang="en-US" sz="1050" dirty="0">
                <a:solidFill>
                  <a:srgbClr val="8899AA"/>
                </a:solidFill>
                <a:latin typeface="Calibri" pitchFamily="34" charset="0"/>
                <a:ea typeface="Calibri" pitchFamily="34" charset="-122"/>
                <a:cs typeface="Calibri" pitchFamily="34" charset="-120"/>
              </a:rPr>
              <a:t>Random Forest, XGBoost</a:t>
            </a:r>
            <a:endParaRPr lang="en-US" sz="1050" dirty="0"/>
          </a:p>
        </p:txBody>
      </p:sp>
      <p:sp>
        <p:nvSpPr>
          <p:cNvPr id="18" name="Text 16"/>
          <p:cNvSpPr txBox="1"/>
          <p:nvPr/>
        </p:nvSpPr>
        <p:spPr>
          <a:xfrm>
            <a:off x="5266944" y="1371600"/>
            <a:ext cx="274320" cy="1325880"/>
          </a:xfrm>
          <a:prstGeom prst="rect">
            <a:avLst/>
          </a:prstGeom>
          <a:noFill/>
          <a:ln/>
        </p:spPr>
        <p:txBody>
          <a:bodyPr wrap="square" lIns="0" tIns="0" rIns="0" bIns="0" rtlCol="0" anchor="ctr"/>
          <a:lstStyle/>
          <a:p>
            <a:pPr algn="ctr" indent="0" marL="0">
              <a:buNone/>
            </a:pPr>
            <a:r>
              <a:rPr lang="en-US" sz="1600" dirty="0">
                <a:solidFill>
                  <a:srgbClr val="00BFA6"/>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541264" y="1371600"/>
            <a:ext cx="1389888" cy="1325880"/>
          </a:xfrm>
          <a:prstGeom prst="roundRect">
            <a:avLst>
              <a:gd name="adj" fmla="val 5517"/>
            </a:avLst>
          </a:prstGeom>
          <a:solidFill>
            <a:srgbClr val="182735"/>
          </a:solidFill>
          <a:ln w="12700">
            <a:solidFill>
              <a:srgbClr val="182735"/>
            </a:solidFill>
            <a:prstDash val="solid"/>
          </a:ln>
        </p:spPr>
      </p:sp>
      <p:sp>
        <p:nvSpPr>
          <p:cNvPr id="20" name="Text 18"/>
          <p:cNvSpPr txBox="1"/>
          <p:nvPr/>
        </p:nvSpPr>
        <p:spPr>
          <a:xfrm>
            <a:off x="5678424" y="1463040"/>
            <a:ext cx="457200" cy="320040"/>
          </a:xfrm>
          <a:prstGeom prst="rect">
            <a:avLst/>
          </a:prstGeom>
          <a:noFill/>
          <a:ln/>
        </p:spPr>
        <p:txBody>
          <a:bodyPr wrap="square" lIns="0" tIns="0" rIns="0" bIns="0" rtlCol="0" anchor="t"/>
          <a:lstStyle/>
          <a:p>
            <a:pPr indent="0" marL="0">
              <a:buNone/>
            </a:pPr>
            <a:r>
              <a:rPr lang="en-US" sz="1600" b="1" dirty="0">
                <a:solidFill>
                  <a:srgbClr val="00BFA6"/>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5678424" y="1783080"/>
            <a:ext cx="1115568" cy="411480"/>
          </a:xfrm>
          <a:prstGeom prst="rect">
            <a:avLst/>
          </a:prstGeom>
          <a:noFill/>
          <a:ln/>
        </p:spPr>
        <p:txBody>
          <a:bodyPr wrap="square" lIns="0" tIns="0" rIns="0" bIns="0" rtlCol="0" anchor="t"/>
          <a:lstStyle/>
          <a:p>
            <a:pPr indent="0" marL="0">
              <a:buNone/>
            </a:pPr>
            <a:r>
              <a:rPr lang="en-US" sz="1300" b="1" dirty="0">
                <a:solidFill>
                  <a:srgbClr val="F0F4F8"/>
                </a:solidFill>
                <a:latin typeface="Calibri" pitchFamily="34" charset="0"/>
                <a:ea typeface="Calibri" pitchFamily="34" charset="-122"/>
                <a:cs typeface="Calibri" pitchFamily="34" charset="-120"/>
              </a:rPr>
              <a:t>Test on new people</a:t>
            </a:r>
            <a:endParaRPr lang="en-US" sz="1300" dirty="0"/>
          </a:p>
        </p:txBody>
      </p:sp>
      <p:sp>
        <p:nvSpPr>
          <p:cNvPr id="22" name="Text 20"/>
          <p:cNvSpPr txBox="1"/>
          <p:nvPr/>
        </p:nvSpPr>
        <p:spPr>
          <a:xfrm>
            <a:off x="5678424" y="2194560"/>
            <a:ext cx="1115568" cy="457200"/>
          </a:xfrm>
          <a:prstGeom prst="rect">
            <a:avLst/>
          </a:prstGeom>
          <a:noFill/>
          <a:ln/>
        </p:spPr>
        <p:txBody>
          <a:bodyPr wrap="square" lIns="0" tIns="0" rIns="0" bIns="0" rtlCol="0" anchor="t"/>
          <a:lstStyle/>
          <a:p>
            <a:pPr indent="0" marL="0">
              <a:buNone/>
            </a:pPr>
            <a:r>
              <a:rPr lang="en-US" sz="1050" dirty="0">
                <a:solidFill>
                  <a:srgbClr val="8899AA"/>
                </a:solidFill>
                <a:latin typeface="Calibri" pitchFamily="34" charset="0"/>
                <a:ea typeface="Calibri" pitchFamily="34" charset="-122"/>
                <a:cs typeface="Calibri" pitchFamily="34" charset="-120"/>
              </a:rPr>
              <a:t>LOSO cross-validation</a:t>
            </a:r>
            <a:endParaRPr lang="en-US" sz="1050" dirty="0"/>
          </a:p>
        </p:txBody>
      </p:sp>
      <p:sp>
        <p:nvSpPr>
          <p:cNvPr id="23" name="Text 21"/>
          <p:cNvSpPr txBox="1"/>
          <p:nvPr/>
        </p:nvSpPr>
        <p:spPr>
          <a:xfrm>
            <a:off x="6931152" y="1371600"/>
            <a:ext cx="274320" cy="1325880"/>
          </a:xfrm>
          <a:prstGeom prst="rect">
            <a:avLst/>
          </a:prstGeom>
          <a:noFill/>
          <a:ln/>
        </p:spPr>
        <p:txBody>
          <a:bodyPr wrap="square" lIns="0" tIns="0" rIns="0" bIns="0" rtlCol="0" anchor="ctr"/>
          <a:lstStyle/>
          <a:p>
            <a:pPr algn="ctr" indent="0" marL="0">
              <a:buNone/>
            </a:pPr>
            <a:r>
              <a:rPr lang="en-US" sz="1600" dirty="0">
                <a:solidFill>
                  <a:srgbClr val="00BFA6"/>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7205472" y="1371600"/>
            <a:ext cx="1389888" cy="1325880"/>
          </a:xfrm>
          <a:prstGeom prst="roundRect">
            <a:avLst>
              <a:gd name="adj" fmla="val 5517"/>
            </a:avLst>
          </a:prstGeom>
          <a:solidFill>
            <a:srgbClr val="182735"/>
          </a:solidFill>
          <a:ln w="12700">
            <a:solidFill>
              <a:srgbClr val="182735"/>
            </a:solidFill>
            <a:prstDash val="solid"/>
          </a:ln>
        </p:spPr>
      </p:sp>
      <p:sp>
        <p:nvSpPr>
          <p:cNvPr id="25" name="Text 23"/>
          <p:cNvSpPr txBox="1"/>
          <p:nvPr/>
        </p:nvSpPr>
        <p:spPr>
          <a:xfrm>
            <a:off x="7342632" y="1463040"/>
            <a:ext cx="457200" cy="320040"/>
          </a:xfrm>
          <a:prstGeom prst="rect">
            <a:avLst/>
          </a:prstGeom>
          <a:noFill/>
          <a:ln/>
        </p:spPr>
        <p:txBody>
          <a:bodyPr wrap="square" lIns="0" tIns="0" rIns="0" bIns="0" rtlCol="0" anchor="t"/>
          <a:lstStyle/>
          <a:p>
            <a:pPr indent="0" marL="0">
              <a:buNone/>
            </a:pPr>
            <a:r>
              <a:rPr lang="en-US" sz="1600" b="1" dirty="0">
                <a:solidFill>
                  <a:srgbClr val="00BFA6"/>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7342632" y="1783080"/>
            <a:ext cx="1115568" cy="411480"/>
          </a:xfrm>
          <a:prstGeom prst="rect">
            <a:avLst/>
          </a:prstGeom>
          <a:noFill/>
          <a:ln/>
        </p:spPr>
        <p:txBody>
          <a:bodyPr wrap="square" lIns="0" tIns="0" rIns="0" bIns="0" rtlCol="0" anchor="t"/>
          <a:lstStyle/>
          <a:p>
            <a:pPr indent="0" marL="0">
              <a:buNone/>
            </a:pPr>
            <a:r>
              <a:rPr lang="en-US" sz="1300" b="1" dirty="0">
                <a:solidFill>
                  <a:srgbClr val="F0F4F8"/>
                </a:solidFill>
                <a:latin typeface="Calibri" pitchFamily="34" charset="0"/>
                <a:ea typeface="Calibri" pitchFamily="34" charset="-122"/>
                <a:cs typeface="Calibri" pitchFamily="34" charset="-120"/>
              </a:rPr>
              <a:t>Explain results</a:t>
            </a:r>
            <a:endParaRPr lang="en-US" sz="1300" dirty="0"/>
          </a:p>
        </p:txBody>
      </p:sp>
      <p:sp>
        <p:nvSpPr>
          <p:cNvPr id="27" name="Text 25"/>
          <p:cNvSpPr txBox="1"/>
          <p:nvPr/>
        </p:nvSpPr>
        <p:spPr>
          <a:xfrm>
            <a:off x="7342632" y="2194560"/>
            <a:ext cx="1115568" cy="457200"/>
          </a:xfrm>
          <a:prstGeom prst="rect">
            <a:avLst/>
          </a:prstGeom>
          <a:noFill/>
          <a:ln/>
        </p:spPr>
        <p:txBody>
          <a:bodyPr wrap="square" lIns="0" tIns="0" rIns="0" bIns="0" rtlCol="0" anchor="t"/>
          <a:lstStyle/>
          <a:p>
            <a:pPr indent="0" marL="0">
              <a:buNone/>
            </a:pPr>
            <a:r>
              <a:rPr lang="en-US" sz="1050" dirty="0">
                <a:solidFill>
                  <a:srgbClr val="8899AA"/>
                </a:solidFill>
                <a:latin typeface="Calibri" pitchFamily="34" charset="0"/>
                <a:ea typeface="Calibri" pitchFamily="34" charset="-122"/>
                <a:cs typeface="Calibri" pitchFamily="34" charset="-120"/>
              </a:rPr>
              <a:t>SHAP values, UMAP maps</a:t>
            </a:r>
            <a:endParaRPr lang="en-US" sz="1050" dirty="0"/>
          </a:p>
        </p:txBody>
      </p:sp>
      <p:sp>
        <p:nvSpPr>
          <p:cNvPr id="28" name="Shape 26"/>
          <p:cNvSpPr/>
          <p:nvPr/>
        </p:nvSpPr>
        <p:spPr>
          <a:xfrm>
            <a:off x="548640" y="2971800"/>
            <a:ext cx="1463040" cy="384048"/>
          </a:xfrm>
          <a:prstGeom prst="roundRect">
            <a:avLst>
              <a:gd name="adj" fmla="val 19048"/>
            </a:avLst>
          </a:prstGeom>
          <a:solidFill>
            <a:srgbClr val="1E3044"/>
          </a:solidFill>
          <a:ln w="12700">
            <a:solidFill>
              <a:srgbClr val="1E3044"/>
            </a:solidFill>
            <a:prstDash val="solid"/>
          </a:ln>
        </p:spPr>
      </p:sp>
      <p:sp>
        <p:nvSpPr>
          <p:cNvPr id="29" name="Text 27"/>
          <p:cNvSpPr txBox="1"/>
          <p:nvPr/>
        </p:nvSpPr>
        <p:spPr>
          <a:xfrm>
            <a:off x="548640" y="2971800"/>
            <a:ext cx="1463040" cy="384048"/>
          </a:xfrm>
          <a:prstGeom prst="rect">
            <a:avLst/>
          </a:prstGeom>
          <a:noFill/>
          <a:ln/>
        </p:spPr>
        <p:txBody>
          <a:bodyPr wrap="square" lIns="0" tIns="0" rIns="0" bIns="0" rtlCol="0" anchor="ctr"/>
          <a:lstStyle/>
          <a:p>
            <a:pPr algn="ctr" indent="0" marL="0">
              <a:buNone/>
            </a:pPr>
            <a:r>
              <a:rPr lang="en-US" sz="1100" b="1" dirty="0">
                <a:solidFill>
                  <a:srgbClr val="00BFA6"/>
                </a:solidFill>
                <a:latin typeface="Courier New" pitchFamily="34" charset="0"/>
                <a:ea typeface="Courier New" pitchFamily="34" charset="-122"/>
                <a:cs typeface="Courier New" pitchFamily="34" charset="-120"/>
              </a:rPr>
              <a:t>Python</a:t>
            </a:r>
            <a:endParaRPr lang="en-US" sz="1100" dirty="0"/>
          </a:p>
        </p:txBody>
      </p:sp>
      <p:sp>
        <p:nvSpPr>
          <p:cNvPr id="30" name="Shape 28"/>
          <p:cNvSpPr/>
          <p:nvPr/>
        </p:nvSpPr>
        <p:spPr>
          <a:xfrm>
            <a:off x="2194560" y="2971800"/>
            <a:ext cx="1463040" cy="384048"/>
          </a:xfrm>
          <a:prstGeom prst="roundRect">
            <a:avLst>
              <a:gd name="adj" fmla="val 19048"/>
            </a:avLst>
          </a:prstGeom>
          <a:solidFill>
            <a:srgbClr val="1E3044"/>
          </a:solidFill>
          <a:ln w="12700">
            <a:solidFill>
              <a:srgbClr val="1E3044"/>
            </a:solidFill>
            <a:prstDash val="solid"/>
          </a:ln>
        </p:spPr>
      </p:sp>
      <p:sp>
        <p:nvSpPr>
          <p:cNvPr id="31" name="Text 29"/>
          <p:cNvSpPr txBox="1"/>
          <p:nvPr/>
        </p:nvSpPr>
        <p:spPr>
          <a:xfrm>
            <a:off x="2194560" y="2971800"/>
            <a:ext cx="1463040" cy="384048"/>
          </a:xfrm>
          <a:prstGeom prst="rect">
            <a:avLst/>
          </a:prstGeom>
          <a:noFill/>
          <a:ln/>
        </p:spPr>
        <p:txBody>
          <a:bodyPr wrap="square" lIns="0" tIns="0" rIns="0" bIns="0" rtlCol="0" anchor="ctr"/>
          <a:lstStyle/>
          <a:p>
            <a:pPr algn="ctr" indent="0" marL="0">
              <a:buNone/>
            </a:pPr>
            <a:r>
              <a:rPr lang="en-US" sz="1100" b="1" dirty="0">
                <a:solidFill>
                  <a:srgbClr val="00BFA6"/>
                </a:solidFill>
                <a:latin typeface="Courier New" pitchFamily="34" charset="0"/>
                <a:ea typeface="Courier New" pitchFamily="34" charset="-122"/>
                <a:cs typeface="Courier New" pitchFamily="34" charset="-120"/>
              </a:rPr>
              <a:t>pandas</a:t>
            </a:r>
            <a:endParaRPr lang="en-US" sz="1100" dirty="0"/>
          </a:p>
        </p:txBody>
      </p:sp>
      <p:sp>
        <p:nvSpPr>
          <p:cNvPr id="32" name="Shape 30"/>
          <p:cNvSpPr/>
          <p:nvPr/>
        </p:nvSpPr>
        <p:spPr>
          <a:xfrm>
            <a:off x="3840480" y="2971800"/>
            <a:ext cx="1463040" cy="384048"/>
          </a:xfrm>
          <a:prstGeom prst="roundRect">
            <a:avLst>
              <a:gd name="adj" fmla="val 19048"/>
            </a:avLst>
          </a:prstGeom>
          <a:solidFill>
            <a:srgbClr val="1E3044"/>
          </a:solidFill>
          <a:ln w="12700">
            <a:solidFill>
              <a:srgbClr val="1E3044"/>
            </a:solidFill>
            <a:prstDash val="solid"/>
          </a:ln>
        </p:spPr>
      </p:sp>
      <p:sp>
        <p:nvSpPr>
          <p:cNvPr id="33" name="Text 31"/>
          <p:cNvSpPr txBox="1"/>
          <p:nvPr/>
        </p:nvSpPr>
        <p:spPr>
          <a:xfrm>
            <a:off x="3840480" y="2971800"/>
            <a:ext cx="1463040" cy="384048"/>
          </a:xfrm>
          <a:prstGeom prst="rect">
            <a:avLst/>
          </a:prstGeom>
          <a:noFill/>
          <a:ln/>
        </p:spPr>
        <p:txBody>
          <a:bodyPr wrap="square" lIns="0" tIns="0" rIns="0" bIns="0" rtlCol="0" anchor="ctr"/>
          <a:lstStyle/>
          <a:p>
            <a:pPr algn="ctr" indent="0" marL="0">
              <a:buNone/>
            </a:pPr>
            <a:r>
              <a:rPr lang="en-US" sz="1100" b="1" dirty="0">
                <a:solidFill>
                  <a:srgbClr val="00BFA6"/>
                </a:solidFill>
                <a:latin typeface="Courier New" pitchFamily="34" charset="0"/>
                <a:ea typeface="Courier New" pitchFamily="34" charset="-122"/>
                <a:cs typeface="Courier New" pitchFamily="34" charset="-120"/>
              </a:rPr>
              <a:t>NumPy</a:t>
            </a:r>
            <a:endParaRPr lang="en-US" sz="1100" dirty="0"/>
          </a:p>
        </p:txBody>
      </p:sp>
      <p:sp>
        <p:nvSpPr>
          <p:cNvPr id="34" name="Shape 32"/>
          <p:cNvSpPr/>
          <p:nvPr/>
        </p:nvSpPr>
        <p:spPr>
          <a:xfrm>
            <a:off x="5486400" y="2971800"/>
            <a:ext cx="1463040" cy="384048"/>
          </a:xfrm>
          <a:prstGeom prst="roundRect">
            <a:avLst>
              <a:gd name="adj" fmla="val 19048"/>
            </a:avLst>
          </a:prstGeom>
          <a:solidFill>
            <a:srgbClr val="1E3044"/>
          </a:solidFill>
          <a:ln w="12700">
            <a:solidFill>
              <a:srgbClr val="1E3044"/>
            </a:solidFill>
            <a:prstDash val="solid"/>
          </a:ln>
        </p:spPr>
      </p:sp>
      <p:sp>
        <p:nvSpPr>
          <p:cNvPr id="35" name="Text 33"/>
          <p:cNvSpPr txBox="1"/>
          <p:nvPr/>
        </p:nvSpPr>
        <p:spPr>
          <a:xfrm>
            <a:off x="5486400" y="2971800"/>
            <a:ext cx="1463040" cy="384048"/>
          </a:xfrm>
          <a:prstGeom prst="rect">
            <a:avLst/>
          </a:prstGeom>
          <a:noFill/>
          <a:ln/>
        </p:spPr>
        <p:txBody>
          <a:bodyPr wrap="square" lIns="0" tIns="0" rIns="0" bIns="0" rtlCol="0" anchor="ctr"/>
          <a:lstStyle/>
          <a:p>
            <a:pPr algn="ctr" indent="0" marL="0">
              <a:buNone/>
            </a:pPr>
            <a:r>
              <a:rPr lang="en-US" sz="1100" b="1" dirty="0">
                <a:solidFill>
                  <a:srgbClr val="00BFA6"/>
                </a:solidFill>
                <a:latin typeface="Courier New" pitchFamily="34" charset="0"/>
                <a:ea typeface="Courier New" pitchFamily="34" charset="-122"/>
                <a:cs typeface="Courier New" pitchFamily="34" charset="-120"/>
              </a:rPr>
              <a:t>SciPy</a:t>
            </a:r>
            <a:endParaRPr lang="en-US" sz="1100" dirty="0"/>
          </a:p>
        </p:txBody>
      </p:sp>
      <p:sp>
        <p:nvSpPr>
          <p:cNvPr id="36" name="Shape 34"/>
          <p:cNvSpPr/>
          <p:nvPr/>
        </p:nvSpPr>
        <p:spPr>
          <a:xfrm>
            <a:off x="7132320" y="2971800"/>
            <a:ext cx="1463040" cy="384048"/>
          </a:xfrm>
          <a:prstGeom prst="roundRect">
            <a:avLst>
              <a:gd name="adj" fmla="val 19048"/>
            </a:avLst>
          </a:prstGeom>
          <a:solidFill>
            <a:srgbClr val="1E3044"/>
          </a:solidFill>
          <a:ln w="12700">
            <a:solidFill>
              <a:srgbClr val="1E3044"/>
            </a:solidFill>
            <a:prstDash val="solid"/>
          </a:ln>
        </p:spPr>
      </p:sp>
      <p:sp>
        <p:nvSpPr>
          <p:cNvPr id="37" name="Text 35"/>
          <p:cNvSpPr txBox="1"/>
          <p:nvPr/>
        </p:nvSpPr>
        <p:spPr>
          <a:xfrm>
            <a:off x="7132320" y="2971800"/>
            <a:ext cx="1463040" cy="384048"/>
          </a:xfrm>
          <a:prstGeom prst="rect">
            <a:avLst/>
          </a:prstGeom>
          <a:noFill/>
          <a:ln/>
        </p:spPr>
        <p:txBody>
          <a:bodyPr wrap="square" lIns="0" tIns="0" rIns="0" bIns="0" rtlCol="0" anchor="ctr"/>
          <a:lstStyle/>
          <a:p>
            <a:pPr algn="ctr" indent="0" marL="0">
              <a:buNone/>
            </a:pPr>
            <a:r>
              <a:rPr lang="en-US" sz="1100" b="1" dirty="0">
                <a:solidFill>
                  <a:srgbClr val="00BFA6"/>
                </a:solidFill>
                <a:latin typeface="Courier New" pitchFamily="34" charset="0"/>
                <a:ea typeface="Courier New" pitchFamily="34" charset="-122"/>
                <a:cs typeface="Courier New" pitchFamily="34" charset="-120"/>
              </a:rPr>
              <a:t>scikit-learn</a:t>
            </a:r>
            <a:endParaRPr lang="en-US" sz="1100" dirty="0"/>
          </a:p>
        </p:txBody>
      </p:sp>
      <p:sp>
        <p:nvSpPr>
          <p:cNvPr id="38" name="Shape 36"/>
          <p:cNvSpPr/>
          <p:nvPr/>
        </p:nvSpPr>
        <p:spPr>
          <a:xfrm>
            <a:off x="548640" y="3474720"/>
            <a:ext cx="1463040" cy="384048"/>
          </a:xfrm>
          <a:prstGeom prst="roundRect">
            <a:avLst>
              <a:gd name="adj" fmla="val 19048"/>
            </a:avLst>
          </a:prstGeom>
          <a:solidFill>
            <a:srgbClr val="1E3044"/>
          </a:solidFill>
          <a:ln w="12700">
            <a:solidFill>
              <a:srgbClr val="1E3044"/>
            </a:solidFill>
            <a:prstDash val="solid"/>
          </a:ln>
        </p:spPr>
      </p:sp>
      <p:sp>
        <p:nvSpPr>
          <p:cNvPr id="39" name="Text 37"/>
          <p:cNvSpPr txBox="1"/>
          <p:nvPr/>
        </p:nvSpPr>
        <p:spPr>
          <a:xfrm>
            <a:off x="548640" y="3474720"/>
            <a:ext cx="1463040" cy="384048"/>
          </a:xfrm>
          <a:prstGeom prst="rect">
            <a:avLst/>
          </a:prstGeom>
          <a:noFill/>
          <a:ln/>
        </p:spPr>
        <p:txBody>
          <a:bodyPr wrap="square" lIns="0" tIns="0" rIns="0" bIns="0" rtlCol="0" anchor="ctr"/>
          <a:lstStyle/>
          <a:p>
            <a:pPr algn="ctr" indent="0" marL="0">
              <a:buNone/>
            </a:pPr>
            <a:r>
              <a:rPr lang="en-US" sz="1100" b="1" dirty="0">
                <a:solidFill>
                  <a:srgbClr val="00BFA6"/>
                </a:solidFill>
                <a:latin typeface="Courier New" pitchFamily="34" charset="0"/>
                <a:ea typeface="Courier New" pitchFamily="34" charset="-122"/>
                <a:cs typeface="Courier New" pitchFamily="34" charset="-120"/>
              </a:rPr>
              <a:t>XGBoost</a:t>
            </a:r>
            <a:endParaRPr lang="en-US" sz="1100" dirty="0"/>
          </a:p>
        </p:txBody>
      </p:sp>
      <p:sp>
        <p:nvSpPr>
          <p:cNvPr id="40" name="Shape 38"/>
          <p:cNvSpPr/>
          <p:nvPr/>
        </p:nvSpPr>
        <p:spPr>
          <a:xfrm>
            <a:off x="2194560" y="3474720"/>
            <a:ext cx="1463040" cy="384048"/>
          </a:xfrm>
          <a:prstGeom prst="roundRect">
            <a:avLst>
              <a:gd name="adj" fmla="val 19048"/>
            </a:avLst>
          </a:prstGeom>
          <a:solidFill>
            <a:srgbClr val="1E3044"/>
          </a:solidFill>
          <a:ln w="12700">
            <a:solidFill>
              <a:srgbClr val="1E3044"/>
            </a:solidFill>
            <a:prstDash val="solid"/>
          </a:ln>
        </p:spPr>
      </p:sp>
      <p:sp>
        <p:nvSpPr>
          <p:cNvPr id="41" name="Text 39"/>
          <p:cNvSpPr txBox="1"/>
          <p:nvPr/>
        </p:nvSpPr>
        <p:spPr>
          <a:xfrm>
            <a:off x="2194560" y="3474720"/>
            <a:ext cx="1463040" cy="384048"/>
          </a:xfrm>
          <a:prstGeom prst="rect">
            <a:avLst/>
          </a:prstGeom>
          <a:noFill/>
          <a:ln/>
        </p:spPr>
        <p:txBody>
          <a:bodyPr wrap="square" lIns="0" tIns="0" rIns="0" bIns="0" rtlCol="0" anchor="ctr"/>
          <a:lstStyle/>
          <a:p>
            <a:pPr algn="ctr" indent="0" marL="0">
              <a:buNone/>
            </a:pPr>
            <a:r>
              <a:rPr lang="en-US" sz="1100" b="1" dirty="0">
                <a:solidFill>
                  <a:srgbClr val="00BFA6"/>
                </a:solidFill>
                <a:latin typeface="Courier New" pitchFamily="34" charset="0"/>
                <a:ea typeface="Courier New" pitchFamily="34" charset="-122"/>
                <a:cs typeface="Courier New" pitchFamily="34" charset="-120"/>
              </a:rPr>
              <a:t>SHAP</a:t>
            </a:r>
            <a:endParaRPr lang="en-US" sz="1100" dirty="0"/>
          </a:p>
        </p:txBody>
      </p:sp>
      <p:sp>
        <p:nvSpPr>
          <p:cNvPr id="42" name="Shape 40"/>
          <p:cNvSpPr/>
          <p:nvPr/>
        </p:nvSpPr>
        <p:spPr>
          <a:xfrm>
            <a:off x="3840480" y="3474720"/>
            <a:ext cx="1463040" cy="384048"/>
          </a:xfrm>
          <a:prstGeom prst="roundRect">
            <a:avLst>
              <a:gd name="adj" fmla="val 19048"/>
            </a:avLst>
          </a:prstGeom>
          <a:solidFill>
            <a:srgbClr val="1E3044"/>
          </a:solidFill>
          <a:ln w="12700">
            <a:solidFill>
              <a:srgbClr val="1E3044"/>
            </a:solidFill>
            <a:prstDash val="solid"/>
          </a:ln>
        </p:spPr>
      </p:sp>
      <p:sp>
        <p:nvSpPr>
          <p:cNvPr id="43" name="Text 41"/>
          <p:cNvSpPr txBox="1"/>
          <p:nvPr/>
        </p:nvSpPr>
        <p:spPr>
          <a:xfrm>
            <a:off x="3840480" y="3474720"/>
            <a:ext cx="1463040" cy="384048"/>
          </a:xfrm>
          <a:prstGeom prst="rect">
            <a:avLst/>
          </a:prstGeom>
          <a:noFill/>
          <a:ln/>
        </p:spPr>
        <p:txBody>
          <a:bodyPr wrap="square" lIns="0" tIns="0" rIns="0" bIns="0" rtlCol="0" anchor="ctr"/>
          <a:lstStyle/>
          <a:p>
            <a:pPr algn="ctr" indent="0" marL="0">
              <a:buNone/>
            </a:pPr>
            <a:r>
              <a:rPr lang="en-US" sz="1100" b="1" dirty="0">
                <a:solidFill>
                  <a:srgbClr val="00BFA6"/>
                </a:solidFill>
                <a:latin typeface="Courier New" pitchFamily="34" charset="0"/>
                <a:ea typeface="Courier New" pitchFamily="34" charset="-122"/>
                <a:cs typeface="Courier New" pitchFamily="34" charset="-120"/>
              </a:rPr>
              <a:t>UMAP</a:t>
            </a:r>
            <a:endParaRPr lang="en-US" sz="1100" dirty="0"/>
          </a:p>
        </p:txBody>
      </p:sp>
      <p:sp>
        <p:nvSpPr>
          <p:cNvPr id="44" name="Shape 42"/>
          <p:cNvSpPr/>
          <p:nvPr/>
        </p:nvSpPr>
        <p:spPr>
          <a:xfrm>
            <a:off x="5486400" y="3474720"/>
            <a:ext cx="1463040" cy="384048"/>
          </a:xfrm>
          <a:prstGeom prst="roundRect">
            <a:avLst>
              <a:gd name="adj" fmla="val 19048"/>
            </a:avLst>
          </a:prstGeom>
          <a:solidFill>
            <a:srgbClr val="1E3044"/>
          </a:solidFill>
          <a:ln w="12700">
            <a:solidFill>
              <a:srgbClr val="1E3044"/>
            </a:solidFill>
            <a:prstDash val="solid"/>
          </a:ln>
        </p:spPr>
      </p:sp>
      <p:sp>
        <p:nvSpPr>
          <p:cNvPr id="45" name="Text 43"/>
          <p:cNvSpPr txBox="1"/>
          <p:nvPr/>
        </p:nvSpPr>
        <p:spPr>
          <a:xfrm>
            <a:off x="5486400" y="3474720"/>
            <a:ext cx="1463040" cy="384048"/>
          </a:xfrm>
          <a:prstGeom prst="rect">
            <a:avLst/>
          </a:prstGeom>
          <a:noFill/>
          <a:ln/>
        </p:spPr>
        <p:txBody>
          <a:bodyPr wrap="square" lIns="0" tIns="0" rIns="0" bIns="0" rtlCol="0" anchor="ctr"/>
          <a:lstStyle/>
          <a:p>
            <a:pPr algn="ctr" indent="0" marL="0">
              <a:buNone/>
            </a:pPr>
            <a:r>
              <a:rPr lang="en-US" sz="1100" b="1" dirty="0">
                <a:solidFill>
                  <a:srgbClr val="00BFA6"/>
                </a:solidFill>
                <a:latin typeface="Courier New" pitchFamily="34" charset="0"/>
                <a:ea typeface="Courier New" pitchFamily="34" charset="-122"/>
                <a:cs typeface="Courier New" pitchFamily="34" charset="-120"/>
              </a:rPr>
              <a:t>matplotlib</a:t>
            </a:r>
            <a:endParaRPr lang="en-US" sz="1100" dirty="0"/>
          </a:p>
        </p:txBody>
      </p:sp>
      <p:sp>
        <p:nvSpPr>
          <p:cNvPr id="46" name="Shape 44"/>
          <p:cNvSpPr/>
          <p:nvPr/>
        </p:nvSpPr>
        <p:spPr>
          <a:xfrm>
            <a:off x="7132320" y="3474720"/>
            <a:ext cx="1463040" cy="384048"/>
          </a:xfrm>
          <a:prstGeom prst="roundRect">
            <a:avLst>
              <a:gd name="adj" fmla="val 19048"/>
            </a:avLst>
          </a:prstGeom>
          <a:solidFill>
            <a:srgbClr val="1E3044"/>
          </a:solidFill>
          <a:ln w="12700">
            <a:solidFill>
              <a:srgbClr val="1E3044"/>
            </a:solidFill>
            <a:prstDash val="solid"/>
          </a:ln>
        </p:spPr>
      </p:sp>
      <p:sp>
        <p:nvSpPr>
          <p:cNvPr id="47" name="Text 45"/>
          <p:cNvSpPr txBox="1"/>
          <p:nvPr/>
        </p:nvSpPr>
        <p:spPr>
          <a:xfrm>
            <a:off x="7132320" y="3474720"/>
            <a:ext cx="1463040" cy="384048"/>
          </a:xfrm>
          <a:prstGeom prst="rect">
            <a:avLst/>
          </a:prstGeom>
          <a:noFill/>
          <a:ln/>
        </p:spPr>
        <p:txBody>
          <a:bodyPr wrap="square" lIns="0" tIns="0" rIns="0" bIns="0" rtlCol="0" anchor="ctr"/>
          <a:lstStyle/>
          <a:p>
            <a:pPr algn="ctr" indent="0" marL="0">
              <a:buNone/>
            </a:pPr>
            <a:r>
              <a:rPr lang="en-US" sz="1100" b="1" dirty="0">
                <a:solidFill>
                  <a:srgbClr val="00BFA6"/>
                </a:solidFill>
                <a:latin typeface="Courier New" pitchFamily="34" charset="0"/>
                <a:ea typeface="Courier New" pitchFamily="34" charset="-122"/>
                <a:cs typeface="Courier New" pitchFamily="34" charset="-120"/>
              </a:rPr>
              <a:t>seaborn</a:t>
            </a:r>
            <a:endParaRPr lang="en-US" sz="1100" dirty="0"/>
          </a:p>
        </p:txBody>
      </p:sp>
      <p:sp>
        <p:nvSpPr>
          <p:cNvPr id="48" name="Shape 46"/>
          <p:cNvSpPr/>
          <p:nvPr/>
        </p:nvSpPr>
        <p:spPr>
          <a:xfrm>
            <a:off x="548640" y="4114800"/>
            <a:ext cx="8046720" cy="548640"/>
          </a:xfrm>
          <a:prstGeom prst="roundRect">
            <a:avLst>
              <a:gd name="adj" fmla="val 13333"/>
            </a:avLst>
          </a:prstGeom>
          <a:solidFill>
            <a:srgbClr val="0D3D30"/>
          </a:solidFill>
          <a:ln w="12700">
            <a:solidFill>
              <a:srgbClr val="0D3D30"/>
            </a:solidFill>
            <a:prstDash val="solid"/>
          </a:ln>
        </p:spPr>
      </p:sp>
      <p:sp>
        <p:nvSpPr>
          <p:cNvPr id="49" name="Text 47"/>
          <p:cNvSpPr txBox="1"/>
          <p:nvPr/>
        </p:nvSpPr>
        <p:spPr>
          <a:xfrm>
            <a:off x="731520" y="4114800"/>
            <a:ext cx="7680960" cy="548640"/>
          </a:xfrm>
          <a:prstGeom prst="rect">
            <a:avLst/>
          </a:prstGeom>
          <a:noFill/>
          <a:ln/>
        </p:spPr>
        <p:txBody>
          <a:bodyPr wrap="square" lIns="0" tIns="0" rIns="0" bIns="0" rtlCol="0" anchor="ctr"/>
          <a:lstStyle/>
          <a:p>
            <a:pPr indent="0" marL="0">
              <a:buNone/>
            </a:pPr>
            <a:r>
              <a:rPr lang="en-US" sz="1200" dirty="0">
                <a:solidFill>
                  <a:srgbClr val="5EECC0"/>
                </a:solidFill>
                <a:latin typeface="Calibri" pitchFamily="34" charset="0"/>
                <a:ea typeface="Calibri" pitchFamily="34" charset="-122"/>
                <a:cs typeface="Calibri" pitchFamily="34" charset="-120"/>
              </a:rPr>
              <a:t>Key test: do “moving together” features beat plain signal values? If yes, BodySync adds something PWI can't.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923"/>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F0F4F8"/>
                </a:solidFill>
                <a:latin typeface="Calibri" pitchFamily="34" charset="0"/>
                <a:ea typeface="Calibri" pitchFamily="34" charset="-122"/>
                <a:cs typeface="Calibri" pitchFamily="34" charset="-120"/>
              </a:rPr>
              <a:t>Verdict: The Data Works, With Changes</a:t>
            </a:r>
            <a:endParaRPr lang="en-US" sz="3200" dirty="0"/>
          </a:p>
        </p:txBody>
      </p:sp>
      <p:sp>
        <p:nvSpPr>
          <p:cNvPr id="3" name="Text 1"/>
          <p:cNvSpPr txBox="1"/>
          <p:nvPr/>
        </p:nvSpPr>
        <p:spPr>
          <a:xfrm>
            <a:off x="2148840" y="1097280"/>
            <a:ext cx="2514600" cy="320040"/>
          </a:xfrm>
          <a:prstGeom prst="rect">
            <a:avLst/>
          </a:prstGeom>
          <a:noFill/>
          <a:ln/>
        </p:spPr>
        <p:txBody>
          <a:bodyPr wrap="square" lIns="0" tIns="0" rIns="0" bIns="0" rtlCol="0" anchor="t"/>
          <a:lstStyle/>
          <a:p>
            <a:pPr indent="0" marL="0">
              <a:buNone/>
            </a:pPr>
            <a:r>
              <a:rPr lang="en-US" sz="1300" b="1" dirty="0">
                <a:solidFill>
                  <a:srgbClr val="8899AA"/>
                </a:solidFill>
                <a:latin typeface="Calibri" pitchFamily="34" charset="0"/>
                <a:ea typeface="Calibri" pitchFamily="34" charset="-122"/>
                <a:cs typeface="Calibri" pitchFamily="34" charset="-120"/>
              </a:rPr>
              <a:t>Original plan</a:t>
            </a:r>
            <a:endParaRPr lang="en-US" sz="1300" dirty="0"/>
          </a:p>
        </p:txBody>
      </p:sp>
      <p:sp>
        <p:nvSpPr>
          <p:cNvPr id="4" name="Text 2"/>
          <p:cNvSpPr txBox="1"/>
          <p:nvPr/>
        </p:nvSpPr>
        <p:spPr>
          <a:xfrm>
            <a:off x="4754880" y="1097280"/>
            <a:ext cx="3977640" cy="320040"/>
          </a:xfrm>
          <a:prstGeom prst="rect">
            <a:avLst/>
          </a:prstGeom>
          <a:noFill/>
          <a:ln/>
        </p:spPr>
        <p:txBody>
          <a:bodyPr wrap="square" lIns="0" tIns="0" rIns="0" bIns="0" rtlCol="0" anchor="t"/>
          <a:lstStyle/>
          <a:p>
            <a:pPr indent="0" marL="0">
              <a:buNone/>
            </a:pPr>
            <a:r>
              <a:rPr lang="en-US" sz="1300" b="1" dirty="0">
                <a:solidFill>
                  <a:srgbClr val="00BFA6"/>
                </a:solidFill>
                <a:latin typeface="Calibri" pitchFamily="34" charset="0"/>
                <a:ea typeface="Calibri" pitchFamily="34" charset="-122"/>
                <a:cs typeface="Calibri" pitchFamily="34" charset="-120"/>
              </a:rPr>
              <a:t>Improved plan</a:t>
            </a:r>
            <a:endParaRPr lang="en-US" sz="1300" dirty="0"/>
          </a:p>
        </p:txBody>
      </p:sp>
      <p:sp>
        <p:nvSpPr>
          <p:cNvPr id="5" name="Shape 3"/>
          <p:cNvSpPr/>
          <p:nvPr/>
        </p:nvSpPr>
        <p:spPr>
          <a:xfrm>
            <a:off x="548640" y="1463040"/>
            <a:ext cx="8046720" cy="457200"/>
          </a:xfrm>
          <a:prstGeom prst="roundRect">
            <a:avLst>
              <a:gd name="adj" fmla="val 16000"/>
            </a:avLst>
          </a:prstGeom>
          <a:solidFill>
            <a:srgbClr val="1E3044"/>
          </a:solidFill>
          <a:ln w="12700">
            <a:solidFill>
              <a:srgbClr val="1E3044"/>
            </a:solidFill>
            <a:prstDash val="solid"/>
          </a:ln>
        </p:spPr>
      </p:sp>
      <p:sp>
        <p:nvSpPr>
          <p:cNvPr id="6" name="Text 4"/>
          <p:cNvSpPr txBox="1"/>
          <p:nvPr/>
        </p:nvSpPr>
        <p:spPr>
          <a:xfrm>
            <a:off x="685800" y="1463040"/>
            <a:ext cx="1371600" cy="457200"/>
          </a:xfrm>
          <a:prstGeom prst="rect">
            <a:avLst/>
          </a:prstGeom>
          <a:noFill/>
          <a:ln/>
        </p:spPr>
        <p:txBody>
          <a:bodyPr wrap="square" lIns="0" tIns="0" rIns="0" bIns="0" rtlCol="0" anchor="ctr"/>
          <a:lstStyle/>
          <a:p>
            <a:pPr indent="0" marL="0">
              <a:buNone/>
            </a:pPr>
            <a:r>
              <a:rPr lang="en-US" sz="1200" b="1" dirty="0">
                <a:solidFill>
                  <a:srgbClr val="8899AA"/>
                </a:solidFill>
                <a:latin typeface="Calibri" pitchFamily="34" charset="0"/>
                <a:ea typeface="Calibri" pitchFamily="34" charset="-122"/>
                <a:cs typeface="Calibri" pitchFamily="34" charset="-120"/>
              </a:rPr>
              <a:t>Signals</a:t>
            </a:r>
            <a:endParaRPr lang="en-US" sz="1200" dirty="0"/>
          </a:p>
        </p:txBody>
      </p:sp>
      <p:sp>
        <p:nvSpPr>
          <p:cNvPr id="7" name="Text 5"/>
          <p:cNvSpPr txBox="1"/>
          <p:nvPr/>
        </p:nvSpPr>
        <p:spPr>
          <a:xfrm>
            <a:off x="2148840" y="1463040"/>
            <a:ext cx="2514600" cy="457200"/>
          </a:xfrm>
          <a:prstGeom prst="rect">
            <a:avLst/>
          </a:prstGeom>
          <a:noFill/>
          <a:ln/>
        </p:spPr>
        <p:txBody>
          <a:bodyPr wrap="square" lIns="0" tIns="0" rIns="0" bIns="0" rtlCol="0" anchor="ctr"/>
          <a:lstStyle/>
          <a:p>
            <a:pPr indent="0" marL="0">
              <a:buNone/>
            </a:pPr>
            <a:r>
              <a:rPr lang="en-US" sz="1200" dirty="0">
                <a:solidFill>
                  <a:srgbClr val="8899AA"/>
                </a:solidFill>
                <a:latin typeface="Calibri" pitchFamily="34" charset="0"/>
                <a:ea typeface="Calibri" pitchFamily="34" charset="-122"/>
                <a:cs typeface="Calibri" pitchFamily="34" charset="-120"/>
              </a:rPr>
              <a:t>5 signals</a:t>
            </a:r>
            <a:endParaRPr lang="en-US" sz="1200" dirty="0"/>
          </a:p>
        </p:txBody>
      </p:sp>
      <p:sp>
        <p:nvSpPr>
          <p:cNvPr id="8" name="Text 6"/>
          <p:cNvSpPr txBox="1"/>
          <p:nvPr/>
        </p:nvSpPr>
        <p:spPr>
          <a:xfrm>
            <a:off x="4754880" y="1463040"/>
            <a:ext cx="3794760" cy="457200"/>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3: heart rate, sweat (EDA), skin temp</a:t>
            </a:r>
            <a:endParaRPr lang="en-US" sz="1200" dirty="0"/>
          </a:p>
        </p:txBody>
      </p:sp>
      <p:sp>
        <p:nvSpPr>
          <p:cNvPr id="9" name="Shape 7"/>
          <p:cNvSpPr/>
          <p:nvPr/>
        </p:nvSpPr>
        <p:spPr>
          <a:xfrm>
            <a:off x="548640" y="2011680"/>
            <a:ext cx="8046720" cy="457200"/>
          </a:xfrm>
          <a:prstGeom prst="roundRect">
            <a:avLst>
              <a:gd name="adj" fmla="val 16000"/>
            </a:avLst>
          </a:prstGeom>
          <a:solidFill>
            <a:srgbClr val="182735"/>
          </a:solidFill>
          <a:ln w="12700">
            <a:solidFill>
              <a:srgbClr val="182735"/>
            </a:solidFill>
            <a:prstDash val="solid"/>
          </a:ln>
        </p:spPr>
      </p:sp>
      <p:sp>
        <p:nvSpPr>
          <p:cNvPr id="10" name="Text 8"/>
          <p:cNvSpPr txBox="1"/>
          <p:nvPr/>
        </p:nvSpPr>
        <p:spPr>
          <a:xfrm>
            <a:off x="685800" y="2011680"/>
            <a:ext cx="1371600" cy="457200"/>
          </a:xfrm>
          <a:prstGeom prst="rect">
            <a:avLst/>
          </a:prstGeom>
          <a:noFill/>
          <a:ln/>
        </p:spPr>
        <p:txBody>
          <a:bodyPr wrap="square" lIns="0" tIns="0" rIns="0" bIns="0" rtlCol="0" anchor="ctr"/>
          <a:lstStyle/>
          <a:p>
            <a:pPr indent="0" marL="0">
              <a:buNone/>
            </a:pPr>
            <a:r>
              <a:rPr lang="en-US" sz="1200" b="1" dirty="0">
                <a:solidFill>
                  <a:srgbClr val="8899AA"/>
                </a:solidFill>
                <a:latin typeface="Calibri" pitchFamily="34" charset="0"/>
                <a:ea typeface="Calibri" pitchFamily="34" charset="-122"/>
                <a:cs typeface="Calibri" pitchFamily="34" charset="-120"/>
              </a:rPr>
              <a:t>Time windows</a:t>
            </a:r>
            <a:endParaRPr lang="en-US" sz="1200" dirty="0"/>
          </a:p>
        </p:txBody>
      </p:sp>
      <p:sp>
        <p:nvSpPr>
          <p:cNvPr id="11" name="Text 9"/>
          <p:cNvSpPr txBox="1"/>
          <p:nvPr/>
        </p:nvSpPr>
        <p:spPr>
          <a:xfrm>
            <a:off x="2148840" y="2011680"/>
            <a:ext cx="2514600" cy="457200"/>
          </a:xfrm>
          <a:prstGeom prst="rect">
            <a:avLst/>
          </a:prstGeom>
          <a:noFill/>
          <a:ln/>
        </p:spPr>
        <p:txBody>
          <a:bodyPr wrap="square" lIns="0" tIns="0" rIns="0" bIns="0" rtlCol="0" anchor="ctr"/>
          <a:lstStyle/>
          <a:p>
            <a:pPr indent="0" marL="0">
              <a:buNone/>
            </a:pPr>
            <a:r>
              <a:rPr lang="en-US" sz="1200" dirty="0">
                <a:solidFill>
                  <a:srgbClr val="8899AA"/>
                </a:solidFill>
                <a:latin typeface="Calibri" pitchFamily="34" charset="0"/>
                <a:ea typeface="Calibri" pitchFamily="34" charset="-122"/>
                <a:cs typeface="Calibri" pitchFamily="34" charset="-120"/>
              </a:rPr>
              <a:t>1 h, 6 h, 24 h</a:t>
            </a:r>
            <a:endParaRPr lang="en-US" sz="1200" dirty="0"/>
          </a:p>
        </p:txBody>
      </p:sp>
      <p:sp>
        <p:nvSpPr>
          <p:cNvPr id="12" name="Text 10"/>
          <p:cNvSpPr txBox="1"/>
          <p:nvPr/>
        </p:nvSpPr>
        <p:spPr>
          <a:xfrm>
            <a:off x="4754880" y="2011680"/>
            <a:ext cx="3794760" cy="457200"/>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1 h and 6 h</a:t>
            </a:r>
            <a:endParaRPr lang="en-US" sz="1200" dirty="0"/>
          </a:p>
        </p:txBody>
      </p:sp>
      <p:sp>
        <p:nvSpPr>
          <p:cNvPr id="13" name="Shape 11"/>
          <p:cNvSpPr/>
          <p:nvPr/>
        </p:nvSpPr>
        <p:spPr>
          <a:xfrm>
            <a:off x="548640" y="2560320"/>
            <a:ext cx="8046720" cy="457200"/>
          </a:xfrm>
          <a:prstGeom prst="roundRect">
            <a:avLst>
              <a:gd name="adj" fmla="val 16000"/>
            </a:avLst>
          </a:prstGeom>
          <a:solidFill>
            <a:srgbClr val="1E3044"/>
          </a:solidFill>
          <a:ln w="12700">
            <a:solidFill>
              <a:srgbClr val="1E3044"/>
            </a:solidFill>
            <a:prstDash val="solid"/>
          </a:ln>
        </p:spPr>
      </p:sp>
      <p:sp>
        <p:nvSpPr>
          <p:cNvPr id="14" name="Text 12"/>
          <p:cNvSpPr txBox="1"/>
          <p:nvPr/>
        </p:nvSpPr>
        <p:spPr>
          <a:xfrm>
            <a:off x="685800" y="2560320"/>
            <a:ext cx="1371600" cy="457200"/>
          </a:xfrm>
          <a:prstGeom prst="rect">
            <a:avLst/>
          </a:prstGeom>
          <a:noFill/>
          <a:ln/>
        </p:spPr>
        <p:txBody>
          <a:bodyPr wrap="square" lIns="0" tIns="0" rIns="0" bIns="0" rtlCol="0" anchor="ctr"/>
          <a:lstStyle/>
          <a:p>
            <a:pPr indent="0" marL="0">
              <a:buNone/>
            </a:pPr>
            <a:r>
              <a:rPr lang="en-US" sz="1200" b="1" dirty="0">
                <a:solidFill>
                  <a:srgbClr val="8899AA"/>
                </a:solidFill>
                <a:latin typeface="Calibri" pitchFamily="34" charset="0"/>
                <a:ea typeface="Calibri" pitchFamily="34" charset="-122"/>
                <a:cs typeface="Calibri" pitchFamily="34" charset="-120"/>
              </a:rPr>
              <a:t>Data per person</a:t>
            </a:r>
            <a:endParaRPr lang="en-US" sz="1200" dirty="0"/>
          </a:p>
        </p:txBody>
      </p:sp>
      <p:sp>
        <p:nvSpPr>
          <p:cNvPr id="15" name="Text 13"/>
          <p:cNvSpPr txBox="1"/>
          <p:nvPr/>
        </p:nvSpPr>
        <p:spPr>
          <a:xfrm>
            <a:off x="2148840" y="2560320"/>
            <a:ext cx="2514600" cy="457200"/>
          </a:xfrm>
          <a:prstGeom prst="rect">
            <a:avLst/>
          </a:prstGeom>
          <a:noFill/>
          <a:ln/>
        </p:spPr>
        <p:txBody>
          <a:bodyPr wrap="square" lIns="0" tIns="0" rIns="0" bIns="0" rtlCol="0" anchor="ctr"/>
          <a:lstStyle/>
          <a:p>
            <a:pPr indent="0" marL="0">
              <a:buNone/>
            </a:pPr>
            <a:r>
              <a:rPr lang="en-US" sz="1200" dirty="0">
                <a:solidFill>
                  <a:srgbClr val="8899AA"/>
                </a:solidFill>
                <a:latin typeface="Calibri" pitchFamily="34" charset="0"/>
                <a:ea typeface="Calibri" pitchFamily="34" charset="-122"/>
                <a:cs typeface="Calibri" pitchFamily="34" charset="-120"/>
              </a:rPr>
              <a:t>“15 months each”</a:t>
            </a:r>
            <a:endParaRPr lang="en-US" sz="1200" dirty="0"/>
          </a:p>
        </p:txBody>
      </p:sp>
      <p:sp>
        <p:nvSpPr>
          <p:cNvPr id="16" name="Text 14"/>
          <p:cNvSpPr txBox="1"/>
          <p:nvPr/>
        </p:nvSpPr>
        <p:spPr>
          <a:xfrm>
            <a:off x="4754880" y="2560320"/>
            <a:ext cx="3794760" cy="457200"/>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~3 weeks each (2 people much longer)</a:t>
            </a:r>
            <a:endParaRPr lang="en-US" sz="1200" dirty="0"/>
          </a:p>
        </p:txBody>
      </p:sp>
      <p:sp>
        <p:nvSpPr>
          <p:cNvPr id="17" name="Shape 15"/>
          <p:cNvSpPr/>
          <p:nvPr/>
        </p:nvSpPr>
        <p:spPr>
          <a:xfrm>
            <a:off x="548640" y="3108960"/>
            <a:ext cx="8046720" cy="457200"/>
          </a:xfrm>
          <a:prstGeom prst="roundRect">
            <a:avLst>
              <a:gd name="adj" fmla="val 16000"/>
            </a:avLst>
          </a:prstGeom>
          <a:solidFill>
            <a:srgbClr val="182735"/>
          </a:solidFill>
          <a:ln w="12700">
            <a:solidFill>
              <a:srgbClr val="182735"/>
            </a:solidFill>
            <a:prstDash val="solid"/>
          </a:ln>
        </p:spPr>
      </p:sp>
      <p:sp>
        <p:nvSpPr>
          <p:cNvPr id="18" name="Text 16"/>
          <p:cNvSpPr txBox="1"/>
          <p:nvPr/>
        </p:nvSpPr>
        <p:spPr>
          <a:xfrm>
            <a:off x="685800" y="3108960"/>
            <a:ext cx="1371600" cy="457200"/>
          </a:xfrm>
          <a:prstGeom prst="rect">
            <a:avLst/>
          </a:prstGeom>
          <a:noFill/>
          <a:ln/>
        </p:spPr>
        <p:txBody>
          <a:bodyPr wrap="square" lIns="0" tIns="0" rIns="0" bIns="0" rtlCol="0" anchor="ctr"/>
          <a:lstStyle/>
          <a:p>
            <a:pPr indent="0" marL="0">
              <a:buNone/>
            </a:pPr>
            <a:r>
              <a:rPr lang="en-US" sz="1200" b="1" dirty="0">
                <a:solidFill>
                  <a:srgbClr val="8899AA"/>
                </a:solidFill>
                <a:latin typeface="Calibri" pitchFamily="34" charset="0"/>
                <a:ea typeface="Calibri" pitchFamily="34" charset="-122"/>
                <a:cs typeface="Calibri" pitchFamily="34" charset="-120"/>
              </a:rPr>
              <a:t>Checked against</a:t>
            </a:r>
            <a:endParaRPr lang="en-US" sz="1200" dirty="0"/>
          </a:p>
        </p:txBody>
      </p:sp>
      <p:sp>
        <p:nvSpPr>
          <p:cNvPr id="19" name="Text 17"/>
          <p:cNvSpPr txBox="1"/>
          <p:nvPr/>
        </p:nvSpPr>
        <p:spPr>
          <a:xfrm>
            <a:off x="2148840" y="3108960"/>
            <a:ext cx="2514600" cy="457200"/>
          </a:xfrm>
          <a:prstGeom prst="rect">
            <a:avLst/>
          </a:prstGeom>
          <a:noFill/>
          <a:ln/>
        </p:spPr>
        <p:txBody>
          <a:bodyPr wrap="square" lIns="0" tIns="0" rIns="0" bIns="0" rtlCol="0" anchor="ctr"/>
          <a:lstStyle/>
          <a:p>
            <a:pPr indent="0" marL="0">
              <a:buNone/>
            </a:pPr>
            <a:r>
              <a:rPr lang="en-US" sz="1200" dirty="0">
                <a:solidFill>
                  <a:srgbClr val="8899AA"/>
                </a:solidFill>
                <a:latin typeface="Calibri" pitchFamily="34" charset="0"/>
                <a:ea typeface="Calibri" pitchFamily="34" charset="-122"/>
                <a:cs typeface="Calibri" pitchFamily="34" charset="-120"/>
              </a:rPr>
              <a:t>Stress labels</a:t>
            </a:r>
            <a:endParaRPr lang="en-US" sz="1200" dirty="0"/>
          </a:p>
        </p:txBody>
      </p:sp>
      <p:sp>
        <p:nvSpPr>
          <p:cNvPr id="20" name="Text 18"/>
          <p:cNvSpPr txBox="1"/>
          <p:nvPr/>
        </p:nvSpPr>
        <p:spPr>
          <a:xfrm>
            <a:off x="4754880" y="3108960"/>
            <a:ext cx="3794760" cy="457200"/>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Sleep, activity and posture (every minute)</a:t>
            </a:r>
            <a:endParaRPr lang="en-US" sz="1200" dirty="0"/>
          </a:p>
        </p:txBody>
      </p:sp>
      <p:sp>
        <p:nvSpPr>
          <p:cNvPr id="21" name="Shape 19"/>
          <p:cNvSpPr/>
          <p:nvPr/>
        </p:nvSpPr>
        <p:spPr>
          <a:xfrm>
            <a:off x="548640" y="3657600"/>
            <a:ext cx="8046720" cy="457200"/>
          </a:xfrm>
          <a:prstGeom prst="roundRect">
            <a:avLst>
              <a:gd name="adj" fmla="val 16000"/>
            </a:avLst>
          </a:prstGeom>
          <a:solidFill>
            <a:srgbClr val="1E3044"/>
          </a:solidFill>
          <a:ln w="12700">
            <a:solidFill>
              <a:srgbClr val="1E3044"/>
            </a:solidFill>
            <a:prstDash val="solid"/>
          </a:ln>
        </p:spPr>
      </p:sp>
      <p:sp>
        <p:nvSpPr>
          <p:cNvPr id="22" name="Text 20"/>
          <p:cNvSpPr txBox="1"/>
          <p:nvPr/>
        </p:nvSpPr>
        <p:spPr>
          <a:xfrm>
            <a:off x="685800" y="3657600"/>
            <a:ext cx="1371600" cy="457200"/>
          </a:xfrm>
          <a:prstGeom prst="rect">
            <a:avLst/>
          </a:prstGeom>
          <a:noFill/>
          <a:ln/>
        </p:spPr>
        <p:txBody>
          <a:bodyPr wrap="square" lIns="0" tIns="0" rIns="0" bIns="0" rtlCol="0" anchor="ctr"/>
          <a:lstStyle/>
          <a:p>
            <a:pPr indent="0" marL="0">
              <a:buNone/>
            </a:pPr>
            <a:r>
              <a:rPr lang="en-US" sz="1200" b="1" dirty="0">
                <a:solidFill>
                  <a:srgbClr val="8899AA"/>
                </a:solidFill>
                <a:latin typeface="Calibri" pitchFamily="34" charset="0"/>
                <a:ea typeface="Calibri" pitchFamily="34" charset="-122"/>
                <a:cs typeface="Calibri" pitchFamily="34" charset="-120"/>
              </a:rPr>
              <a:t>ML task</a:t>
            </a:r>
            <a:endParaRPr lang="en-US" sz="1200" dirty="0"/>
          </a:p>
        </p:txBody>
      </p:sp>
      <p:sp>
        <p:nvSpPr>
          <p:cNvPr id="23" name="Text 21"/>
          <p:cNvSpPr txBox="1"/>
          <p:nvPr/>
        </p:nvSpPr>
        <p:spPr>
          <a:xfrm>
            <a:off x="2148840" y="3657600"/>
            <a:ext cx="2514600" cy="457200"/>
          </a:xfrm>
          <a:prstGeom prst="rect">
            <a:avLst/>
          </a:prstGeom>
          <a:noFill/>
          <a:ln/>
        </p:spPr>
        <p:txBody>
          <a:bodyPr wrap="square" lIns="0" tIns="0" rIns="0" bIns="0" rtlCol="0" anchor="ctr"/>
          <a:lstStyle/>
          <a:p>
            <a:pPr indent="0" marL="0">
              <a:buNone/>
            </a:pPr>
            <a:r>
              <a:rPr lang="en-US" sz="1200" dirty="0">
                <a:solidFill>
                  <a:srgbClr val="8899AA"/>
                </a:solidFill>
                <a:latin typeface="Calibri" pitchFamily="34" charset="0"/>
                <a:ea typeface="Calibri" pitchFamily="34" charset="-122"/>
                <a:cs typeface="Calibri" pitchFamily="34" charset="-120"/>
              </a:rPr>
              <a:t>Predict “desyncs”</a:t>
            </a:r>
            <a:endParaRPr lang="en-US" sz="1200" dirty="0"/>
          </a:p>
        </p:txBody>
      </p:sp>
      <p:sp>
        <p:nvSpPr>
          <p:cNvPr id="24" name="Text 22"/>
          <p:cNvSpPr txBox="1"/>
          <p:nvPr/>
        </p:nvSpPr>
        <p:spPr>
          <a:xfrm>
            <a:off x="4754880" y="3657600"/>
            <a:ext cx="3794760" cy="457200"/>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Does “moving together” beat raw values at telling sleep / rest / activity apart? (RF, XGBoost)</a:t>
            </a:r>
            <a:endParaRPr lang="en-US" sz="1200" dirty="0"/>
          </a:p>
        </p:txBody>
      </p:sp>
      <p:sp>
        <p:nvSpPr>
          <p:cNvPr id="25" name="Shape 23"/>
          <p:cNvSpPr/>
          <p:nvPr/>
        </p:nvSpPr>
        <p:spPr>
          <a:xfrm>
            <a:off x="548640" y="4297680"/>
            <a:ext cx="8046720" cy="457200"/>
          </a:xfrm>
          <a:prstGeom prst="roundRect">
            <a:avLst>
              <a:gd name="adj" fmla="val 16000"/>
            </a:avLst>
          </a:prstGeom>
          <a:solidFill>
            <a:srgbClr val="0D3D30"/>
          </a:solidFill>
          <a:ln w="12700">
            <a:solidFill>
              <a:srgbClr val="0D3D30"/>
            </a:solidFill>
            <a:prstDash val="solid"/>
          </a:ln>
        </p:spPr>
      </p:sp>
      <p:sp>
        <p:nvSpPr>
          <p:cNvPr id="26" name="Text 24"/>
          <p:cNvSpPr txBox="1"/>
          <p:nvPr/>
        </p:nvSpPr>
        <p:spPr>
          <a:xfrm>
            <a:off x="731520" y="4297680"/>
            <a:ext cx="7680960" cy="457200"/>
          </a:xfrm>
          <a:prstGeom prst="rect">
            <a:avLst/>
          </a:prstGeom>
          <a:noFill/>
          <a:ln/>
        </p:spPr>
        <p:txBody>
          <a:bodyPr wrap="square" lIns="0" tIns="0" rIns="0" bIns="0" rtlCol="0" anchor="ctr"/>
          <a:lstStyle/>
          <a:p>
            <a:pPr indent="0" marL="0">
              <a:buNone/>
            </a:pPr>
            <a:r>
              <a:rPr lang="en-US" sz="1200" dirty="0">
                <a:solidFill>
                  <a:srgbClr val="5EECC0"/>
                </a:solidFill>
                <a:latin typeface="Calibri" pitchFamily="34" charset="0"/>
                <a:ea typeface="Calibri" pitchFamily="34" charset="-122"/>
                <a:cs typeface="Calibri" pitchFamily="34" charset="-120"/>
              </a:rPr>
              <a:t>Next step: clean the data and explore it (remove empty rows, look at what a typical day looks like)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2026-09-24T17:19:22Z</dcterms:created>
  <dcterms:modified xsi:type="dcterms:W3CDTF">2026-09-24T17:19:22Z</dcterms:modified>
</cp:coreProperties>
</file>